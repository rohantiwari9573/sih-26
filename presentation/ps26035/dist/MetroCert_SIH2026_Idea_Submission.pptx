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Oval 37"/>
          <p:cNvSpPr/>
          <p:nvPr/>
        </p:nvSpPr>
        <p:spPr>
          <a:xfrm>
            <a:off x="-868680" y="-868680"/>
            <a:ext cx="1737360" cy="173736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1440" y="292608"/>
            <a:ext cx="12070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422F6C"/>
                </a:solidFill>
                <a:latin typeface="Arial"/>
              </a:rPr>
              <a:t>Nexus2.O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41" name="Oval 40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1920240"/>
            <a:ext cx="6035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422F6C"/>
                </a:solidFill>
                <a:latin typeface="Georgia"/>
              </a:rPr>
              <a:t>MetroCert  </a:t>
            </a:r>
            <a:r>
              <a:rPr sz="3600">
                <a:latin typeface="Segoe UI Emoji"/>
              </a:rPr>
              <a:t>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78892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2A1B54"/>
                </a:solidFill>
                <a:latin typeface="Arial"/>
              </a:rPr>
              <a:t>Automated Test Report &amp; Compliance Platform for Non-Automatic Weighing Instruments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356616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8A93A3"/>
                </a:solidFill>
                <a:latin typeface="Arial"/>
              </a:rPr>
              <a:t>Problem Statement: NAWI Test Report Generation per OIML R-76   ·   PS Category: Software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3977639"/>
            <a:ext cx="3200400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PS ID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26035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67912" y="3977639"/>
            <a:ext cx="3200400" cy="77724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THEME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Miscellaneous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2920" y="4919471"/>
            <a:ext cx="3200400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ORGANIZATION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DoCA (Consumer Affairs)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867912" y="4919471"/>
            <a:ext cx="3200400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000" b="1">
                <a:solidFill>
                  <a:srgbClr val="25467E"/>
                </a:solidFill>
                <a:latin typeface="Arial"/>
              </a:rPr>
              <a:t>TEAM</a:t>
            </a:r>
          </a:p>
          <a:p>
            <a:pPr algn="ctr"/>
            <a:r>
              <a:rPr sz="1500" b="1">
                <a:solidFill>
                  <a:srgbClr val="2A1B54"/>
                </a:solidFill>
                <a:latin typeface="Arial"/>
              </a:rPr>
              <a:t>Nexus2.O  •  164739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02920" y="5870448"/>
            <a:ext cx="5623560" cy="0"/>
          </a:xfrm>
          <a:prstGeom prst="line">
            <a:avLst/>
          </a:prstGeom>
          <a:ln w="15875">
            <a:solidFill>
              <a:srgbClr val="422F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502920" y="5989320"/>
            <a:ext cx="6126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5467E"/>
                </a:solidFill>
                <a:latin typeface="Arial"/>
              </a:rPr>
              <a:t>FROM MANUAL SPREADSHEETS TO STANDARDIZED COMPLIANCE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Oval 15362"/>
          <p:cNvSpPr/>
          <p:nvPr/>
        </p:nvSpPr>
        <p:spPr>
          <a:xfrm>
            <a:off x="-868680" y="-868680"/>
            <a:ext cx="1737360" cy="173736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4" name="Rounded Rectangle 15363"/>
          <p:cNvSpPr/>
          <p:nvPr/>
        </p:nvSpPr>
        <p:spPr>
          <a:xfrm>
            <a:off x="91440" y="292608"/>
            <a:ext cx="12070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422F6C"/>
                </a:solidFill>
                <a:latin typeface="Arial"/>
              </a:rPr>
              <a:t>Nexus2.O</a:t>
            </a:r>
          </a:p>
        </p:txBody>
      </p:sp>
      <p:sp>
        <p:nvSpPr>
          <p:cNvPr id="15365" name="Rectangle 15364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5366" name="TextBox 15365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The Problem → Our Solution</a:t>
            </a:r>
          </a:p>
        </p:txBody>
      </p:sp>
      <p:sp>
        <p:nvSpPr>
          <p:cNvPr id="15367" name="TextBox 15366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NAWI model-approval testing still runs on manual spreadsheets — slow, inconsistent, and error-prone.</a:t>
            </a:r>
          </a:p>
        </p:txBody>
      </p:sp>
      <p:sp>
        <p:nvSpPr>
          <p:cNvPr id="15368" name="Oval 15367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Rounded Rectangle 15368"/>
          <p:cNvSpPr/>
          <p:nvPr/>
        </p:nvSpPr>
        <p:spPr>
          <a:xfrm>
            <a:off x="457200" y="1828800"/>
            <a:ext cx="3364992" cy="384048"/>
          </a:xfrm>
          <a:prstGeom prst="roundRect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Today's Pain Points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57200" y="2212848"/>
            <a:ext cx="3364992" cy="2862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71" name="TextBox 15370"/>
          <p:cNvSpPr txBox="1"/>
          <p:nvPr/>
        </p:nvSpPr>
        <p:spPr>
          <a:xfrm>
            <a:off x="640080" y="2423160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📄  </a:t>
            </a:r>
            <a:r>
              <a:rPr sz="1200">
                <a:solidFill>
                  <a:srgbClr val="222833"/>
                </a:solidFill>
                <a:latin typeface="Arial"/>
              </a:rPr>
              <a:t>Manual spreadsheet reports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640080" y="2953512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❌  </a:t>
            </a:r>
            <a:r>
              <a:rPr sz="1200">
                <a:solidFill>
                  <a:srgbClr val="222833"/>
                </a:solidFill>
                <a:latin typeface="Arial"/>
              </a:rPr>
              <a:t>Calculation errors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640080" y="3483864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🔀  </a:t>
            </a:r>
            <a:r>
              <a:rPr sz="1200">
                <a:solidFill>
                  <a:srgbClr val="222833"/>
                </a:solidFill>
                <a:latin typeface="Arial"/>
              </a:rPr>
              <a:t>Inconsistent report formats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640080" y="4014216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🔍  </a:t>
            </a:r>
            <a:r>
              <a:rPr sz="1200">
                <a:solidFill>
                  <a:srgbClr val="222833"/>
                </a:solidFill>
                <a:latin typeface="Arial"/>
              </a:rPr>
              <a:t>No searchable repository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640080" y="4544568"/>
            <a:ext cx="29992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25467E"/>
                </a:solidFill>
                <a:latin typeface="Segoe UI Emoji"/>
              </a:rPr>
              <a:t>🐌  </a:t>
            </a:r>
            <a:r>
              <a:rPr sz="1200">
                <a:solidFill>
                  <a:srgbClr val="222833"/>
                </a:solidFill>
                <a:latin typeface="Arial"/>
              </a:rPr>
              <a:t>Slow approval turnaround</a:t>
            </a:r>
          </a:p>
        </p:txBody>
      </p:sp>
      <p:sp>
        <p:nvSpPr>
          <p:cNvPr id="15376" name="Right Arrow 15375"/>
          <p:cNvSpPr/>
          <p:nvPr/>
        </p:nvSpPr>
        <p:spPr>
          <a:xfrm>
            <a:off x="3895344" y="3314700"/>
            <a:ext cx="457200" cy="274320"/>
          </a:xfrm>
          <a:prstGeom prst="rightArrow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TextBox 15376"/>
          <p:cNvSpPr txBox="1"/>
          <p:nvPr/>
        </p:nvSpPr>
        <p:spPr>
          <a:xfrm>
            <a:off x="4507992" y="1783080"/>
            <a:ext cx="317296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422F6C"/>
                </a:solidFill>
                <a:latin typeface="Georgia"/>
              </a:rPr>
              <a:t>MetroCert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4507992" y="2212848"/>
            <a:ext cx="3172968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79" name="Oval 15378"/>
          <p:cNvSpPr/>
          <p:nvPr/>
        </p:nvSpPr>
        <p:spPr>
          <a:xfrm>
            <a:off x="4617720" y="2391156"/>
            <a:ext cx="420624" cy="420624"/>
          </a:xfrm>
          <a:prstGeom prst="ellipse">
            <a:avLst/>
          </a:prstGeom>
          <a:solidFill>
            <a:srgbClr val="5B3A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5129784" y="2267712"/>
            <a:ext cx="2441448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2A1B54"/>
                </a:solidFill>
                <a:latin typeface="Arial"/>
              </a:rPr>
              <a:t>Automated Test Data</a:t>
            </a:r>
          </a:p>
          <a:p>
            <a:r>
              <a:rPr sz="1250" b="1">
                <a:solidFill>
                  <a:srgbClr val="2A1B54"/>
                </a:solidFill>
                <a:latin typeface="Arial"/>
              </a:rPr>
              <a:t>Capture &amp; Validation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4507992" y="3127248"/>
            <a:ext cx="3172968" cy="77724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82" name="Oval 15381"/>
          <p:cNvSpPr/>
          <p:nvPr/>
        </p:nvSpPr>
        <p:spPr>
          <a:xfrm>
            <a:off x="4617720" y="3305556"/>
            <a:ext cx="420624" cy="420624"/>
          </a:xfrm>
          <a:prstGeom prst="ellipse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5383" name="TextBox 15382"/>
          <p:cNvSpPr txBox="1"/>
          <p:nvPr/>
        </p:nvSpPr>
        <p:spPr>
          <a:xfrm>
            <a:off x="5129784" y="3182112"/>
            <a:ext cx="2441448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2A1B54"/>
                </a:solidFill>
                <a:latin typeface="Arial"/>
              </a:rPr>
              <a:t>OIML R-76 Compliance</a:t>
            </a:r>
          </a:p>
          <a:p>
            <a:r>
              <a:rPr sz="1250" b="1">
                <a:solidFill>
                  <a:srgbClr val="2A1B54"/>
                </a:solidFill>
                <a:latin typeface="Arial"/>
              </a:rPr>
              <a:t>Engine (Pass / Fail)</a:t>
            </a:r>
          </a:p>
        </p:txBody>
      </p:sp>
      <p:sp>
        <p:nvSpPr>
          <p:cNvPr id="15384" name="Rounded Rectangle 15383"/>
          <p:cNvSpPr/>
          <p:nvPr/>
        </p:nvSpPr>
        <p:spPr>
          <a:xfrm>
            <a:off x="4507992" y="4041648"/>
            <a:ext cx="3172968" cy="77724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85" name="Oval 15384"/>
          <p:cNvSpPr/>
          <p:nvPr/>
        </p:nvSpPr>
        <p:spPr>
          <a:xfrm>
            <a:off x="4617720" y="4219956"/>
            <a:ext cx="420624" cy="420624"/>
          </a:xfrm>
          <a:prstGeom prst="ellipse">
            <a:avLst/>
          </a:prstGeom>
          <a:solidFill>
            <a:srgbClr val="1E8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5386" name="TextBox 15385"/>
          <p:cNvSpPr txBox="1"/>
          <p:nvPr/>
        </p:nvSpPr>
        <p:spPr>
          <a:xfrm>
            <a:off x="5129784" y="4096512"/>
            <a:ext cx="2441448" cy="6675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50" b="1">
                <a:solidFill>
                  <a:srgbClr val="2A1B54"/>
                </a:solidFill>
                <a:latin typeface="Arial"/>
              </a:rPr>
              <a:t>Standardized Report</a:t>
            </a:r>
          </a:p>
          <a:p>
            <a:r>
              <a:rPr sz="1250" b="1">
                <a:solidFill>
                  <a:srgbClr val="2A1B54"/>
                </a:solidFill>
                <a:latin typeface="Arial"/>
              </a:rPr>
              <a:t>Generation &amp; Archive</a:t>
            </a:r>
          </a:p>
        </p:txBody>
      </p:sp>
      <p:sp>
        <p:nvSpPr>
          <p:cNvPr id="15387" name="Right Arrow 15386"/>
          <p:cNvSpPr/>
          <p:nvPr/>
        </p:nvSpPr>
        <p:spPr>
          <a:xfrm>
            <a:off x="7754112" y="3314700"/>
            <a:ext cx="457200" cy="274320"/>
          </a:xfrm>
          <a:prstGeom prst="rightArrow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8" name="Rounded Rectangle 15387"/>
          <p:cNvSpPr/>
          <p:nvPr/>
        </p:nvSpPr>
        <p:spPr>
          <a:xfrm>
            <a:off x="8366760" y="1828800"/>
            <a:ext cx="3364992" cy="384048"/>
          </a:xfrm>
          <a:prstGeom prst="roundRect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Unified Compliance Output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8366760" y="2212848"/>
            <a:ext cx="3364992" cy="2862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8458200" y="2359152"/>
            <a:ext cx="3182112" cy="914400"/>
          </a:xfrm>
          <a:prstGeom prst="round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8567928" y="2432304"/>
            <a:ext cx="296265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FFFFFF"/>
                </a:solidFill>
                <a:latin typeface="Georgia"/>
              </a:rPr>
              <a:t>NAWI Test Report — TR-2026-0142</a:t>
            </a:r>
          </a:p>
        </p:txBody>
      </p:sp>
      <p:sp>
        <p:nvSpPr>
          <p:cNvPr id="15392" name="Rounded Rectangle 15391"/>
          <p:cNvSpPr/>
          <p:nvPr/>
        </p:nvSpPr>
        <p:spPr>
          <a:xfrm>
            <a:off x="8567928" y="2688336"/>
            <a:ext cx="2962656" cy="219456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sz="800">
                <a:solidFill>
                  <a:srgbClr val="C8C8D4"/>
                </a:solidFill>
                <a:latin typeface="Arial"/>
              </a:rPr>
              <a:t>Repeatability (§A.4.2): within tolerance</a:t>
            </a:r>
          </a:p>
        </p:txBody>
      </p:sp>
      <p:sp>
        <p:nvSpPr>
          <p:cNvPr id="15393" name="Rounded Rectangle 15392"/>
          <p:cNvSpPr/>
          <p:nvPr/>
        </p:nvSpPr>
        <p:spPr>
          <a:xfrm>
            <a:off x="8567928" y="2962656"/>
            <a:ext cx="1371600" cy="219456"/>
          </a:xfrm>
          <a:prstGeom prst="roundRect">
            <a:avLst/>
          </a:prstGeom>
          <a:solidFill>
            <a:srgbClr val="1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● PASS</a:t>
            </a:r>
          </a:p>
        </p:txBody>
      </p:sp>
      <p:sp>
        <p:nvSpPr>
          <p:cNvPr id="15394" name="TextBox 15393"/>
          <p:cNvSpPr txBox="1"/>
          <p:nvPr/>
        </p:nvSpPr>
        <p:spPr>
          <a:xfrm>
            <a:off x="8366760" y="3291840"/>
            <a:ext cx="3364992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8A93A3"/>
                </a:solidFill>
                <a:latin typeface="Arial"/>
              </a:rPr>
              <a:t>CONCEPT UI — PROPOSED, NOT YET BUILT</a:t>
            </a:r>
          </a:p>
        </p:txBody>
      </p:sp>
      <p:sp>
        <p:nvSpPr>
          <p:cNvPr id="15395" name="TextBox 15394"/>
          <p:cNvSpPr txBox="1"/>
          <p:nvPr/>
        </p:nvSpPr>
        <p:spPr>
          <a:xfrm>
            <a:off x="8549640" y="3511296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📋  </a:t>
            </a:r>
            <a:r>
              <a:rPr sz="1100">
                <a:solidFill>
                  <a:srgbClr val="222833"/>
                </a:solidFill>
                <a:latin typeface="Arial"/>
              </a:rPr>
              <a:t>Standardized Test Report</a:t>
            </a:r>
          </a:p>
        </p:txBody>
      </p:sp>
      <p:sp>
        <p:nvSpPr>
          <p:cNvPr id="15396" name="TextBox 15395"/>
          <p:cNvSpPr txBox="1"/>
          <p:nvPr/>
        </p:nvSpPr>
        <p:spPr>
          <a:xfrm>
            <a:off x="8549640" y="3822192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⚖  </a:t>
            </a:r>
            <a:r>
              <a:rPr sz="1100">
                <a:solidFill>
                  <a:srgbClr val="222833"/>
                </a:solidFill>
                <a:latin typeface="Arial"/>
              </a:rPr>
              <a:t>Compliance Verdict (Pass/Fail)</a:t>
            </a:r>
          </a:p>
        </p:txBody>
      </p:sp>
      <p:sp>
        <p:nvSpPr>
          <p:cNvPr id="15397" name="TextBox 15396"/>
          <p:cNvSpPr txBox="1"/>
          <p:nvPr/>
        </p:nvSpPr>
        <p:spPr>
          <a:xfrm>
            <a:off x="8549640" y="4133088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🗄  </a:t>
            </a:r>
            <a:r>
              <a:rPr sz="1100">
                <a:solidFill>
                  <a:srgbClr val="222833"/>
                </a:solidFill>
                <a:latin typeface="Arial"/>
              </a:rPr>
              <a:t>Searchable Report Archive</a:t>
            </a:r>
          </a:p>
        </p:txBody>
      </p:sp>
      <p:sp>
        <p:nvSpPr>
          <p:cNvPr id="15398" name="TextBox 15397"/>
          <p:cNvSpPr txBox="1"/>
          <p:nvPr/>
        </p:nvSpPr>
        <p:spPr>
          <a:xfrm>
            <a:off x="8549640" y="4443984"/>
            <a:ext cx="29992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25467E"/>
                </a:solidFill>
                <a:latin typeface="Segoe UI Emoji"/>
              </a:rPr>
              <a:t>🔐  </a:t>
            </a:r>
            <a:r>
              <a:rPr sz="1100">
                <a:solidFill>
                  <a:srgbClr val="222833"/>
                </a:solidFill>
                <a:latin typeface="Arial"/>
              </a:rPr>
              <a:t>Role-Based Secure Access</a:t>
            </a:r>
          </a:p>
        </p:txBody>
      </p:sp>
      <p:sp>
        <p:nvSpPr>
          <p:cNvPr id="15399" name="Rounded Rectangle 15398"/>
          <p:cNvSpPr/>
          <p:nvPr/>
        </p:nvSpPr>
        <p:spPr>
          <a:xfrm>
            <a:off x="365760" y="5303520"/>
            <a:ext cx="11457432" cy="685800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5400" name="Rounded Rectangle 15399"/>
          <p:cNvSpPr/>
          <p:nvPr/>
        </p:nvSpPr>
        <p:spPr>
          <a:xfrm>
            <a:off x="457200" y="5394960"/>
            <a:ext cx="2167128" cy="50292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CAPTURE</a:t>
            </a:r>
          </a:p>
        </p:txBody>
      </p:sp>
      <p:sp>
        <p:nvSpPr>
          <p:cNvPr id="15401" name="Right Arrow 15400"/>
          <p:cNvSpPr/>
          <p:nvPr/>
        </p:nvSpPr>
        <p:spPr>
          <a:xfrm>
            <a:off x="2642616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2" name="Rounded Rectangle 15401"/>
          <p:cNvSpPr/>
          <p:nvPr/>
        </p:nvSpPr>
        <p:spPr>
          <a:xfrm>
            <a:off x="2734056" y="5394960"/>
            <a:ext cx="2167128" cy="50292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VALIDATE</a:t>
            </a:r>
          </a:p>
        </p:txBody>
      </p:sp>
      <p:sp>
        <p:nvSpPr>
          <p:cNvPr id="15403" name="Right Arrow 15402"/>
          <p:cNvSpPr/>
          <p:nvPr/>
        </p:nvSpPr>
        <p:spPr>
          <a:xfrm>
            <a:off x="4919472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4" name="Rounded Rectangle 15403"/>
          <p:cNvSpPr/>
          <p:nvPr/>
        </p:nvSpPr>
        <p:spPr>
          <a:xfrm>
            <a:off x="5010912" y="5394960"/>
            <a:ext cx="2167128" cy="50292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CALCULATE</a:t>
            </a:r>
          </a:p>
        </p:txBody>
      </p:sp>
      <p:sp>
        <p:nvSpPr>
          <p:cNvPr id="15405" name="Right Arrow 15404"/>
          <p:cNvSpPr/>
          <p:nvPr/>
        </p:nvSpPr>
        <p:spPr>
          <a:xfrm>
            <a:off x="7196328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6" name="Rounded Rectangle 15405"/>
          <p:cNvSpPr/>
          <p:nvPr/>
        </p:nvSpPr>
        <p:spPr>
          <a:xfrm>
            <a:off x="7287768" y="5394960"/>
            <a:ext cx="2167128" cy="50292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VERIFY</a:t>
            </a:r>
          </a:p>
        </p:txBody>
      </p:sp>
      <p:sp>
        <p:nvSpPr>
          <p:cNvPr id="15407" name="Right Arrow 15406"/>
          <p:cNvSpPr/>
          <p:nvPr/>
        </p:nvSpPr>
        <p:spPr>
          <a:xfrm>
            <a:off x="9473184" y="5573268"/>
            <a:ext cx="73152" cy="146304"/>
          </a:xfrm>
          <a:prstGeom prst="righ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08" name="Rounded Rectangle 15407"/>
          <p:cNvSpPr/>
          <p:nvPr/>
        </p:nvSpPr>
        <p:spPr>
          <a:xfrm>
            <a:off x="9564624" y="5394960"/>
            <a:ext cx="2167128" cy="50292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422F6C"/>
                </a:solidFill>
                <a:latin typeface="Arial"/>
              </a:rPr>
              <a:t>GENERATE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868680" y="-868680"/>
            <a:ext cx="1737360" cy="173736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91440" y="292608"/>
            <a:ext cx="12070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422F6C"/>
                </a:solidFill>
                <a:latin typeface="Arial"/>
              </a:rPr>
              <a:t>Nexus2.O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Technical Approach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From manual test sheets to a standardized, rule-based compliance report.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🗄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Instrument &amp;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Test Data Entry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1764792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1883664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🔍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Data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Validation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3191256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3310128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📡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Environmental &amp;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Lab Conditions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4617720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4736592" y="1691640"/>
            <a:ext cx="1298448" cy="868680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⚖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OIML R-76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Rule Engine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6044184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6163056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📊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Permissible Error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Calculation</a:t>
            </a:r>
          </a:p>
        </p:txBody>
      </p:sp>
      <p:sp>
        <p:nvSpPr>
          <p:cNvPr id="17426" name="Right Arrow 17425"/>
          <p:cNvSpPr/>
          <p:nvPr/>
        </p:nvSpPr>
        <p:spPr>
          <a:xfrm>
            <a:off x="7470648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7589520" y="1691640"/>
            <a:ext cx="1298448" cy="868680"/>
          </a:xfrm>
          <a:prstGeom prst="roundRect">
            <a:avLst/>
          </a:prstGeom>
          <a:solidFill>
            <a:srgbClr val="FDEED5"/>
          </a:solidFill>
          <a:ln w="12700">
            <a:solidFill>
              <a:srgbClr val="E4B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✅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Compliance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Engine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8897112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9015984" y="1691640"/>
            <a:ext cx="1298448" cy="86868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📋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Report Template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Engine</a:t>
            </a:r>
          </a:p>
        </p:txBody>
      </p:sp>
      <p:sp>
        <p:nvSpPr>
          <p:cNvPr id="17430" name="Right Arrow 17429"/>
          <p:cNvSpPr/>
          <p:nvPr/>
        </p:nvSpPr>
        <p:spPr>
          <a:xfrm>
            <a:off x="10323576" y="2052828"/>
            <a:ext cx="109728" cy="146304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10442448" y="1691640"/>
            <a:ext cx="1298448" cy="86868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🖥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MetroCert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Dashboard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57200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📡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Repeatability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Test (§A.4.2)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3319272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📇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Eccentricity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Loading (§A.4.3)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6181344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✍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Discrimination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Test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9043416" y="2834640"/>
            <a:ext cx="2697480" cy="713232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>
                <a:solidFill>
                  <a:srgbClr val="2A1B54"/>
                </a:solidFill>
                <a:latin typeface="Segoe UI Emoji"/>
              </a:rPr>
              <a:t>📉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Accuracy /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Linearity</a:t>
            </a:r>
          </a:p>
        </p:txBody>
      </p:sp>
      <p:sp>
        <p:nvSpPr>
          <p:cNvPr id="17436" name="Down Arrow 17435"/>
          <p:cNvSpPr/>
          <p:nvPr/>
        </p:nvSpPr>
        <p:spPr>
          <a:xfrm>
            <a:off x="5294376" y="2578608"/>
            <a:ext cx="182880" cy="201168"/>
          </a:xfrm>
          <a:prstGeom prst="downArrow">
            <a:avLst/>
          </a:prstGeom>
          <a:solidFill>
            <a:srgbClr val="254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457200" y="386791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1B54"/>
                </a:solidFill>
                <a:latin typeface="Arial"/>
              </a:rPr>
              <a:t>Key Metrics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57200" y="4197096"/>
            <a:ext cx="2723083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5B3A9E"/>
                </a:solidFill>
                <a:latin typeface="Arial"/>
              </a:rPr>
              <a:t>R-76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OIML standard
fully digitized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308299" y="4197096"/>
            <a:ext cx="2723083" cy="77724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F5C9E"/>
                </a:solidFill>
                <a:latin typeface="Arial"/>
              </a:rPr>
              <a:t>2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Report formats
PDF / DOCX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159398" y="4197096"/>
            <a:ext cx="2723083" cy="777240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E8A4A"/>
                </a:solidFill>
                <a:latin typeface="Arial"/>
              </a:rPr>
              <a:t>3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User roles
Admin / Tester / Viewer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010497" y="4197096"/>
            <a:ext cx="2723083" cy="777240"/>
          </a:xfrm>
          <a:prstGeom prst="roundRect">
            <a:avLst/>
          </a:prstGeom>
          <a:solidFill>
            <a:srgbClr val="FDEED5"/>
          </a:solidFill>
          <a:ln w="12700">
            <a:solidFill>
              <a:srgbClr val="E4B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C26A14"/>
                </a:solidFill>
                <a:latin typeface="Arial"/>
              </a:rPr>
              <a:t>100%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Digital — zero manual
spreadsheets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57200" y="5202936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1B54"/>
                </a:solidFill>
                <a:latin typeface="Arial"/>
              </a:rPr>
              <a:t>Technology Stack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457200" y="5532120"/>
            <a:ext cx="11274552" cy="384048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200" b="1">
                <a:solidFill>
                  <a:srgbClr val="25467E"/>
                </a:solidFill>
                <a:latin typeface="Arial"/>
              </a:rPr>
              <a:t>React + TS  |  FastAPI  |  Python  |  PostgreSQL  |  ReportLab (PDF)  |  python-docx  |  Redis  |  Celery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868680" y="-868680"/>
            <a:ext cx="1737360" cy="173736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91440" y="292608"/>
            <a:ext cx="12070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422F6C"/>
                </a:solidFill>
                <a:latin typeface="Arial"/>
              </a:rPr>
              <a:t>Nexus2.O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Feasibility and Viability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Real-world challenges, practical engineering responses, a clearly scoped build.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1600200"/>
            <a:ext cx="3794760" cy="347472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Challenge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306824" y="1600200"/>
            <a:ext cx="3794760" cy="347472"/>
          </a:xfrm>
          <a:prstGeom prst="roundRect">
            <a:avLst/>
          </a:prstGeom>
          <a:solidFill>
            <a:srgbClr val="2E7B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Our Engineering Response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530352" y="1975104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📄  </a:t>
            </a:r>
            <a:r>
              <a:rPr sz="950">
                <a:solidFill>
                  <a:srgbClr val="222833"/>
                </a:solidFill>
                <a:latin typeface="Arial"/>
              </a:rPr>
              <a:t>Manual, error-prone
spreadsheet process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233672" y="2121408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379976" y="1975104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Digital data-entry forms with automated calculation and validation checks</a:t>
            </a:r>
          </a:p>
        </p:txBody>
      </p:sp>
      <p:cxnSp>
        <p:nvCxnSpPr>
          <p:cNvPr id="17422" name="Connector 17421"/>
          <p:cNvCxnSpPr/>
          <p:nvPr/>
        </p:nvCxnSpPr>
        <p:spPr>
          <a:xfrm>
            <a:off x="457200" y="2459736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TextBox 17422"/>
          <p:cNvSpPr txBox="1"/>
          <p:nvPr/>
        </p:nvSpPr>
        <p:spPr>
          <a:xfrm>
            <a:off x="530352" y="2487168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⚖  </a:t>
            </a:r>
            <a:r>
              <a:rPr sz="950">
                <a:solidFill>
                  <a:srgbClr val="222833"/>
                </a:solidFill>
                <a:latin typeface="Arial"/>
              </a:rPr>
              <a:t>Complex OIML R-76 rules
applied inconsistently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4233672" y="2633472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TextBox 17424"/>
          <p:cNvSpPr txBox="1"/>
          <p:nvPr/>
        </p:nvSpPr>
        <p:spPr>
          <a:xfrm>
            <a:off x="4379976" y="2487168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Rule-based compliance engine encoding R-76 permissible-error tables directly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457200" y="2971800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7" name="TextBox 17426"/>
          <p:cNvSpPr txBox="1"/>
          <p:nvPr/>
        </p:nvSpPr>
        <p:spPr>
          <a:xfrm>
            <a:off x="530352" y="2999232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🔀  </a:t>
            </a:r>
            <a:r>
              <a:rPr sz="950">
                <a:solidFill>
                  <a:srgbClr val="222833"/>
                </a:solidFill>
                <a:latin typeface="Arial"/>
              </a:rPr>
              <a:t>Inconsistent report
formats across labs</a:t>
            </a:r>
          </a:p>
        </p:txBody>
      </p:sp>
      <p:sp>
        <p:nvSpPr>
          <p:cNvPr id="17428" name="Right Arrow 17427"/>
          <p:cNvSpPr/>
          <p:nvPr/>
        </p:nvSpPr>
        <p:spPr>
          <a:xfrm>
            <a:off x="4233672" y="3145536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TextBox 17428"/>
          <p:cNvSpPr txBox="1"/>
          <p:nvPr/>
        </p:nvSpPr>
        <p:spPr>
          <a:xfrm>
            <a:off x="4379976" y="2999232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Standardized template engine generating uniform PDF / DOCX reports</a:t>
            </a:r>
          </a:p>
        </p:txBody>
      </p:sp>
      <p:cxnSp>
        <p:nvCxnSpPr>
          <p:cNvPr id="17430" name="Connector 17429"/>
          <p:cNvCxnSpPr/>
          <p:nvPr/>
        </p:nvCxnSpPr>
        <p:spPr>
          <a:xfrm>
            <a:off x="457200" y="3483864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1" name="TextBox 17430"/>
          <p:cNvSpPr txBox="1"/>
          <p:nvPr/>
        </p:nvSpPr>
        <p:spPr>
          <a:xfrm>
            <a:off x="530352" y="3511296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🔄  </a:t>
            </a:r>
            <a:r>
              <a:rPr sz="950">
                <a:solidFill>
                  <a:srgbClr val="222833"/>
                </a:solidFill>
                <a:latin typeface="Arial"/>
              </a:rPr>
              <a:t>Future OIML
recommendation revisions</a:t>
            </a:r>
          </a:p>
        </p:txBody>
      </p:sp>
      <p:sp>
        <p:nvSpPr>
          <p:cNvPr id="17432" name="Right Arrow 17431"/>
          <p:cNvSpPr/>
          <p:nvPr/>
        </p:nvSpPr>
        <p:spPr>
          <a:xfrm>
            <a:off x="4233672" y="3657600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4379976" y="3511296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Versioned, configurable rule engine — rules stored as data, not hardcoded</a:t>
            </a:r>
          </a:p>
        </p:txBody>
      </p:sp>
      <p:cxnSp>
        <p:nvCxnSpPr>
          <p:cNvPr id="17434" name="Connector 17433"/>
          <p:cNvCxnSpPr/>
          <p:nvPr/>
        </p:nvCxnSpPr>
        <p:spPr>
          <a:xfrm>
            <a:off x="457200" y="3995928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5" name="TextBox 17434"/>
          <p:cNvSpPr txBox="1"/>
          <p:nvPr/>
        </p:nvSpPr>
        <p:spPr>
          <a:xfrm>
            <a:off x="530352" y="4023360"/>
            <a:ext cx="3337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>
                <a:solidFill>
                  <a:srgbClr val="25467E"/>
                </a:solidFill>
                <a:latin typeface="Segoe UI Emoji"/>
              </a:rPr>
              <a:t>🔒  </a:t>
            </a:r>
            <a:r>
              <a:rPr sz="950">
                <a:solidFill>
                  <a:srgbClr val="222833"/>
                </a:solidFill>
                <a:latin typeface="Arial"/>
              </a:rPr>
              <a:t>Sensitive lab &amp;
manufacturer data</a:t>
            </a:r>
          </a:p>
        </p:txBody>
      </p:sp>
      <p:sp>
        <p:nvSpPr>
          <p:cNvPr id="17436" name="Right Arrow 17435"/>
          <p:cNvSpPr/>
          <p:nvPr/>
        </p:nvSpPr>
        <p:spPr>
          <a:xfrm>
            <a:off x="4233672" y="4169664"/>
            <a:ext cx="128016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TextBox 17436"/>
          <p:cNvSpPr txBox="1"/>
          <p:nvPr/>
        </p:nvSpPr>
        <p:spPr>
          <a:xfrm>
            <a:off x="4379976" y="4023360"/>
            <a:ext cx="364845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222833"/>
                </a:solidFill>
                <a:latin typeface="Arial"/>
              </a:rPr>
              <a:t>Role-based access control with a full audit trail</a:t>
            </a:r>
          </a:p>
        </p:txBody>
      </p:sp>
      <p:cxnSp>
        <p:nvCxnSpPr>
          <p:cNvPr id="17438" name="Connector 17437"/>
          <p:cNvCxnSpPr/>
          <p:nvPr/>
        </p:nvCxnSpPr>
        <p:spPr>
          <a:xfrm>
            <a:off x="457200" y="4507992"/>
            <a:ext cx="7644384" cy="0"/>
          </a:xfrm>
          <a:prstGeom prst="line">
            <a:avLst/>
          </a:prstGeom>
          <a:ln w="9525">
            <a:solidFill>
              <a:srgbClr val="E3E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39" name="Rounded Rectangle 17438"/>
          <p:cNvSpPr/>
          <p:nvPr/>
        </p:nvSpPr>
        <p:spPr>
          <a:xfrm>
            <a:off x="8238744" y="1600200"/>
            <a:ext cx="3495751" cy="347472"/>
          </a:xfrm>
          <a:prstGeom prst="roundRect">
            <a:avLst/>
          </a:prstGeom>
          <a:solidFill>
            <a:srgbClr val="E3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2A1B54"/>
                </a:solidFill>
                <a:latin typeface="Arial"/>
              </a:rPr>
              <a:t>Proposed Report Screen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8238744" y="1947672"/>
            <a:ext cx="3495751" cy="2359152"/>
          </a:xfrm>
          <a:prstGeom prst="round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441" name="TextBox 17440"/>
          <p:cNvSpPr txBox="1"/>
          <p:nvPr/>
        </p:nvSpPr>
        <p:spPr>
          <a:xfrm>
            <a:off x="8403336" y="2112264"/>
            <a:ext cx="3166567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Georgia"/>
              </a:rPr>
              <a:t>NAWI Test Report — TR-2026-0142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8403336" y="2459736"/>
            <a:ext cx="3166567" cy="292608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C8C8D4"/>
                </a:solidFill>
                <a:latin typeface="Arial"/>
              </a:rPr>
              <a:t>Manufacturer / Model</a:t>
            </a:r>
          </a:p>
        </p:txBody>
      </p:sp>
      <p:sp>
        <p:nvSpPr>
          <p:cNvPr id="17443" name="Rounded Rectangle 17442"/>
          <p:cNvSpPr/>
          <p:nvPr/>
        </p:nvSpPr>
        <p:spPr>
          <a:xfrm>
            <a:off x="8403336" y="2825496"/>
            <a:ext cx="3166567" cy="292608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C8C8D4"/>
                </a:solidFill>
                <a:latin typeface="Arial"/>
              </a:rPr>
              <a:t>Max Capacity / Verification Scale Interval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8403336" y="3191256"/>
            <a:ext cx="3166567" cy="292608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C8C8D4"/>
                </a:solidFill>
                <a:latin typeface="Arial"/>
              </a:rPr>
              <a:t>Test: Repeatability (OIML R-76 §A.4.2)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8403336" y="3557016"/>
            <a:ext cx="3166567" cy="292608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>
                <a:solidFill>
                  <a:srgbClr val="C8C8D4"/>
                </a:solidFill>
                <a:latin typeface="Arial"/>
              </a:rPr>
              <a:t>Test: Eccentricity Loading (§A.4.3)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8403336" y="3922776"/>
            <a:ext cx="2103120" cy="292608"/>
          </a:xfrm>
          <a:prstGeom prst="roundRect">
            <a:avLst/>
          </a:prstGeom>
          <a:solidFill>
            <a:srgbClr val="1E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FFFFF"/>
                </a:solidFill>
                <a:latin typeface="Arial"/>
              </a:rPr>
              <a:t>● PASS — within tolerance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8238744" y="4334256"/>
            <a:ext cx="3495751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8A93A3"/>
                </a:solidFill>
                <a:latin typeface="Arial"/>
              </a:rPr>
              <a:t>CONCEPT UI — PROPOSED, NOT YET BUILT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457200" y="4645152"/>
            <a:ext cx="7644384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2A1B54"/>
                </a:solidFill>
                <a:latin typeface="Arial"/>
              </a:rPr>
              <a:t>Why MetroCert is Feasible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Built on a published, well-defined standard (OIML R-76)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Deterministic, testable rule-based compliance engine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Proven, off-the-shelf PDF / DOCX generation libraries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Modular rule engine — ready for future OIML revisions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✅ Team has prior experience building evidence-driven systems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8238744" y="4599432"/>
            <a:ext cx="3495751" cy="1645920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PROPOSED SOLUTION</a:t>
            </a:r>
          </a:p>
          <a:p>
            <a:pPr algn="ctr"/>
            <a:r>
              <a:rPr sz="1000" b="1">
                <a:solidFill>
                  <a:srgbClr val="E6DCF7"/>
                </a:solidFill>
                <a:latin typeface="Arial"/>
              </a:rPr>
              <a:t>IDEA-STAGE SUBMISSION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868680" y="-868680"/>
            <a:ext cx="1737360" cy="173736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91440" y="292608"/>
            <a:ext cx="12070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422F6C"/>
                </a:solidFill>
                <a:latin typeface="Arial"/>
              </a:rPr>
              <a:t>Nexus2.O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Impact and Benefits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Transforming manual weighing-instrument compliance into a standardized digital process.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1691640"/>
            <a:ext cx="2153412" cy="777240"/>
          </a:xfrm>
          <a:prstGeom prst="roundRect">
            <a:avLst/>
          </a:prstGeom>
          <a:solidFill>
            <a:srgbClr val="E6E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2A1B54"/>
                </a:solidFill>
                <a:latin typeface="Arial"/>
              </a:rPr>
              <a:t>Manual Spreadsheets</a:t>
            </a:r>
          </a:p>
          <a:p>
            <a:pPr algn="ctr"/>
            <a:r>
              <a:rPr sz="1100" b="1">
                <a:solidFill>
                  <a:srgbClr val="2A1B54"/>
                </a:solidFill>
                <a:latin typeface="Arial"/>
              </a:rPr>
              <a:t>+ Inconsistent</a:t>
            </a:r>
          </a:p>
          <a:p>
            <a:pPr algn="ctr"/>
            <a:r>
              <a:rPr sz="1100" b="1">
                <a:solidFill>
                  <a:srgbClr val="2A1B54"/>
                </a:solidFill>
                <a:latin typeface="Arial"/>
              </a:rPr>
              <a:t>Reports</a:t>
            </a:r>
          </a:p>
        </p:txBody>
      </p:sp>
      <p:sp>
        <p:nvSpPr>
          <p:cNvPr id="17418" name="Right Arrow 17417"/>
          <p:cNvSpPr/>
          <p:nvPr/>
        </p:nvSpPr>
        <p:spPr>
          <a:xfrm>
            <a:off x="2619756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2738628" y="1691640"/>
            <a:ext cx="2153412" cy="777240"/>
          </a:xfrm>
          <a:prstGeom prst="roundRect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MetroCert</a:t>
            </a:r>
          </a:p>
        </p:txBody>
      </p:sp>
      <p:sp>
        <p:nvSpPr>
          <p:cNvPr id="17420" name="Right Arrow 17419"/>
          <p:cNvSpPr/>
          <p:nvPr/>
        </p:nvSpPr>
        <p:spPr>
          <a:xfrm>
            <a:off x="4901184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1" name="Rounded Rectangle 17420"/>
          <p:cNvSpPr/>
          <p:nvPr/>
        </p:nvSpPr>
        <p:spPr>
          <a:xfrm>
            <a:off x="5020056" y="1691640"/>
            <a:ext cx="2153412" cy="777240"/>
          </a:xfrm>
          <a:prstGeom prst="roundRect">
            <a:avLst/>
          </a:prstGeom>
          <a:solidFill>
            <a:srgbClr val="DA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25467E"/>
                </a:solidFill>
                <a:latin typeface="Arial"/>
              </a:rPr>
              <a:t>Standardized</a:t>
            </a:r>
          </a:p>
          <a:p>
            <a:pPr algn="ctr"/>
            <a:r>
              <a:rPr sz="1100" b="1">
                <a:solidFill>
                  <a:srgbClr val="25467E"/>
                </a:solidFill>
                <a:latin typeface="Arial"/>
              </a:rPr>
              <a:t>Digital Reports</a:t>
            </a:r>
          </a:p>
        </p:txBody>
      </p:sp>
      <p:sp>
        <p:nvSpPr>
          <p:cNvPr id="17422" name="Right Arrow 17421"/>
          <p:cNvSpPr/>
          <p:nvPr/>
        </p:nvSpPr>
        <p:spPr>
          <a:xfrm>
            <a:off x="7182612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7301484" y="1691640"/>
            <a:ext cx="2153412" cy="777240"/>
          </a:xfrm>
          <a:prstGeom prst="roundRect">
            <a:avLst/>
          </a:prstGeom>
          <a:solidFill>
            <a:srgbClr val="DEF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1E6B3A"/>
                </a:solidFill>
                <a:latin typeface="Arial"/>
              </a:rPr>
              <a:t>Faster Model</a:t>
            </a:r>
          </a:p>
          <a:p>
            <a:pPr algn="ctr"/>
            <a:r>
              <a:rPr sz="1100" b="1">
                <a:solidFill>
                  <a:srgbClr val="1E6B3A"/>
                </a:solidFill>
                <a:latin typeface="Arial"/>
              </a:rPr>
              <a:t>Approval</a:t>
            </a:r>
          </a:p>
        </p:txBody>
      </p:sp>
      <p:sp>
        <p:nvSpPr>
          <p:cNvPr id="17424" name="Right Arrow 17423"/>
          <p:cNvSpPr/>
          <p:nvPr/>
        </p:nvSpPr>
        <p:spPr>
          <a:xfrm>
            <a:off x="9464040" y="1997964"/>
            <a:ext cx="109728" cy="164592"/>
          </a:xfrm>
          <a:prstGeom prst="rightArrow">
            <a:avLst/>
          </a:prstGeom>
          <a:solidFill>
            <a:srgbClr val="8A9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Rounded Rectangle 17424"/>
          <p:cNvSpPr/>
          <p:nvPr/>
        </p:nvSpPr>
        <p:spPr>
          <a:xfrm>
            <a:off x="9582912" y="1691640"/>
            <a:ext cx="2153412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00" b="1">
                <a:solidFill>
                  <a:srgbClr val="5B3A9E"/>
                </a:solidFill>
                <a:latin typeface="Arial"/>
              </a:rPr>
              <a:t>Stronger Consumer</a:t>
            </a:r>
          </a:p>
          <a:p>
            <a:pPr algn="ctr"/>
            <a:r>
              <a:rPr sz="1100" b="1">
                <a:solidFill>
                  <a:srgbClr val="5B3A9E"/>
                </a:solidFill>
                <a:latin typeface="Arial"/>
              </a:rPr>
              <a:t>Protection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57200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⚖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LEGAL METROLOGY LABS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Faster testing turnaround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Automated calculations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Standardized reports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3303727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🏛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MODEL APPROVAL AUTHORITY (DoCA)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Consistent compliance verdicts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Audit-ready records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Faster approvals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50254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🏭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INSTRUMENT MANUFACTURERS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Faster time-to-market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Clear compliance feedback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Digital certificates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8996781" y="2697480"/>
            <a:ext cx="2736799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>
                <a:solidFill>
                  <a:srgbClr val="2A1B54"/>
                </a:solidFill>
                <a:latin typeface="Segoe UI Emoji"/>
              </a:rPr>
              <a:t>👥</a:t>
            </a:r>
          </a:p>
          <a:p>
            <a:pPr algn="ctr"/>
            <a:r>
              <a:rPr sz="1200" b="1">
                <a:solidFill>
                  <a:srgbClr val="2A1B54"/>
                </a:solidFill>
                <a:latin typeface="Arial"/>
              </a:rPr>
              <a:t>CONSUMERS &amp; TRADE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More accurate instruments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Stronger fair-trade protection</a:t>
            </a:r>
          </a:p>
          <a:p>
            <a:r>
              <a:rPr sz="1000">
                <a:solidFill>
                  <a:srgbClr val="222833"/>
                </a:solidFill>
                <a:latin typeface="Arial"/>
              </a:rPr>
              <a:t>✓ Public trust in verification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457200" y="452628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2A1B54"/>
                </a:solidFill>
                <a:latin typeface="Arial"/>
              </a:rPr>
              <a:t>Key Outcomes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457200" y="4855464"/>
            <a:ext cx="2723083" cy="777240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5B3A9E"/>
                </a:solidFill>
                <a:latin typeface="Arial"/>
              </a:rPr>
              <a:t>R-76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OIML standard
fully digitized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308299" y="4855464"/>
            <a:ext cx="2723083" cy="777240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F5C9E"/>
                </a:solidFill>
                <a:latin typeface="Arial"/>
              </a:rPr>
              <a:t>2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Report export
formats (PDF/DOCX)</a:t>
            </a:r>
          </a:p>
        </p:txBody>
      </p:sp>
      <p:sp>
        <p:nvSpPr>
          <p:cNvPr id="17433" name="Rounded Rectangle 17432"/>
          <p:cNvSpPr/>
          <p:nvPr/>
        </p:nvSpPr>
        <p:spPr>
          <a:xfrm>
            <a:off x="6159398" y="4855464"/>
            <a:ext cx="2723083" cy="777240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1E8A4A"/>
                </a:solidFill>
                <a:latin typeface="Arial"/>
              </a:rPr>
              <a:t>100%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Digital, searchable
report repository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9010497" y="4855464"/>
            <a:ext cx="2723083" cy="777240"/>
          </a:xfrm>
          <a:prstGeom prst="roundRect">
            <a:avLst/>
          </a:prstGeom>
          <a:solidFill>
            <a:srgbClr val="FDEED5"/>
          </a:solidFill>
          <a:ln w="12700">
            <a:solidFill>
              <a:srgbClr val="E4B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400" b="1">
                <a:solidFill>
                  <a:srgbClr val="C26A14"/>
                </a:solidFill>
                <a:latin typeface="Arial"/>
              </a:rPr>
              <a:t>3</a:t>
            </a:r>
          </a:p>
          <a:p>
            <a:pPr algn="ctr"/>
            <a:r>
              <a:rPr sz="950" b="1">
                <a:solidFill>
                  <a:srgbClr val="2A1B54"/>
                </a:solidFill>
                <a:latin typeface="Arial"/>
              </a:rPr>
              <a:t>Role-based access
levels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 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Oval 17410"/>
          <p:cNvSpPr/>
          <p:nvPr/>
        </p:nvSpPr>
        <p:spPr>
          <a:xfrm>
            <a:off x="-868680" y="-868680"/>
            <a:ext cx="1737360" cy="173736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91440" y="292608"/>
            <a:ext cx="1207008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/>
            <a:r>
              <a:rPr sz="1200" b="1">
                <a:solidFill>
                  <a:srgbClr val="422F6C"/>
                </a:solidFill>
                <a:latin typeface="Arial"/>
              </a:rPr>
              <a:t>Nexus2.O</a:t>
            </a:r>
          </a:p>
        </p:txBody>
      </p:sp>
      <p:sp>
        <p:nvSpPr>
          <p:cNvPr id="17413" name="Rectangle 17412"/>
          <p:cNvSpPr/>
          <p:nvPr/>
        </p:nvSpPr>
        <p:spPr>
          <a:xfrm>
            <a:off x="1417320" y="201168"/>
            <a:ext cx="5120640" cy="457200"/>
          </a:xfrm>
          <a:prstGeom prst="rect">
            <a:avLst/>
          </a:prstGeom>
          <a:solidFill>
            <a:srgbClr val="6E5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57200" y="7772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A1B54"/>
                </a:solidFill>
                <a:latin typeface="Georgia"/>
              </a:rPr>
              <a:t>Research and References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57200" y="129844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25467E"/>
                </a:solidFill>
                <a:latin typeface="Arial"/>
              </a:rPr>
              <a:t>Built on the published Legal Metrology framework and the OIML R-76 standard.</a:t>
            </a:r>
          </a:p>
        </p:txBody>
      </p:sp>
      <p:sp>
        <p:nvSpPr>
          <p:cNvPr id="17416" name="Oval 17415"/>
          <p:cNvSpPr/>
          <p:nvPr/>
        </p:nvSpPr>
        <p:spPr>
          <a:xfrm>
            <a:off x="11368735" y="6035040"/>
            <a:ext cx="1645920" cy="1645920"/>
          </a:xfrm>
          <a:prstGeom prst="ellipse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457200" y="1691640"/>
            <a:ext cx="2736799" cy="384048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⚖  </a:t>
            </a:r>
            <a:r>
              <a:rPr sz="1100" b="1">
                <a:solidFill>
                  <a:srgbClr val="2A1B54"/>
                </a:solidFill>
                <a:latin typeface="Arial"/>
              </a:rPr>
              <a:t>LEGAL METROLOGY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57200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Legal Metrology Act, 2009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Legal Metrology (General) Rules, 2011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3303727" y="1691640"/>
            <a:ext cx="2736799" cy="384048"/>
          </a:xfrm>
          <a:prstGeom prst="roundRect">
            <a:avLst/>
          </a:prstGeom>
          <a:solidFill>
            <a:srgbClr val="DEFAE9"/>
          </a:solidFill>
          <a:ln w="12700">
            <a:solidFill>
              <a:srgbClr val="7C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📏  </a:t>
            </a:r>
            <a:r>
              <a:rPr sz="1100" b="1">
                <a:solidFill>
                  <a:srgbClr val="2A1B54"/>
                </a:solidFill>
                <a:latin typeface="Arial"/>
              </a:rPr>
              <a:t>OIML STANDARDS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303727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OIML R-76 Recommendation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Permissible error tables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150254" y="1691640"/>
            <a:ext cx="2736799" cy="384048"/>
          </a:xfrm>
          <a:prstGeom prst="roundRect">
            <a:avLst/>
          </a:prstGeom>
          <a:solidFill>
            <a:srgbClr val="F1E8FE"/>
          </a:solidFill>
          <a:ln w="12700">
            <a:solidFill>
              <a:srgbClr val="B9A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📋  </a:t>
            </a:r>
            <a:r>
              <a:rPr sz="1100" b="1">
                <a:solidFill>
                  <a:srgbClr val="2A1B54"/>
                </a:solidFill>
                <a:latin typeface="Arial"/>
              </a:rPr>
              <a:t>REPORT AUTOMATION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150254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PDF / DOCX generation libraries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Template-based reporting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8996781" y="1691640"/>
            <a:ext cx="2736799" cy="384048"/>
          </a:xfrm>
          <a:prstGeom prst="roundRect">
            <a:avLst/>
          </a:prstGeom>
          <a:solidFill>
            <a:srgbClr val="DAEFFB"/>
          </a:solidFill>
          <a:ln w="12700">
            <a:solidFill>
              <a:srgbClr val="7FB8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>
                <a:solidFill>
                  <a:srgbClr val="2A1B54"/>
                </a:solidFill>
                <a:latin typeface="Segoe UI Emoji"/>
              </a:rPr>
              <a:t>🔒  </a:t>
            </a:r>
            <a:r>
              <a:rPr sz="1100" b="1">
                <a:solidFill>
                  <a:srgbClr val="2A1B54"/>
                </a:solidFill>
                <a:latin typeface="Arial"/>
              </a:rPr>
              <a:t>SYSTEM DESIGN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8996781" y="2075688"/>
            <a:ext cx="2736799" cy="667512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950">
                <a:solidFill>
                  <a:srgbClr val="222833"/>
                </a:solidFill>
                <a:latin typeface="Arial"/>
              </a:rPr>
              <a:t>✓ Role-based access control</a:t>
            </a:r>
          </a:p>
          <a:p>
            <a:r>
              <a:rPr sz="950">
                <a:solidFill>
                  <a:srgbClr val="222833"/>
                </a:solidFill>
                <a:latin typeface="Arial"/>
              </a:rPr>
              <a:t>✓ Versioned, configurable rule engines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57200" y="3017520"/>
            <a:ext cx="1920240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Legal Metrology</a:t>
            </a:r>
          </a:p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Standards</a:t>
            </a:r>
          </a:p>
        </p:txBody>
      </p:sp>
      <p:sp>
        <p:nvSpPr>
          <p:cNvPr id="17426" name="Down Arrow 17425"/>
          <p:cNvSpPr/>
          <p:nvPr/>
        </p:nvSpPr>
        <p:spPr>
          <a:xfrm>
            <a:off x="1335024" y="3813048"/>
            <a:ext cx="164592" cy="146304"/>
          </a:xfrm>
          <a:prstGeom prst="downArrow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457200" y="4050792"/>
            <a:ext cx="1920240" cy="77724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MetroCert</a:t>
            </a:r>
          </a:p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Rule Engine</a:t>
            </a:r>
          </a:p>
        </p:txBody>
      </p:sp>
      <p:sp>
        <p:nvSpPr>
          <p:cNvPr id="17428" name="Down Arrow 17427"/>
          <p:cNvSpPr/>
          <p:nvPr/>
        </p:nvSpPr>
        <p:spPr>
          <a:xfrm>
            <a:off x="1335024" y="4846320"/>
            <a:ext cx="164592" cy="146304"/>
          </a:xfrm>
          <a:prstGeom prst="downArrow">
            <a:avLst/>
          </a:prstGeom>
          <a:solidFill>
            <a:srgbClr val="422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Rounded Rectangle 17428"/>
          <p:cNvSpPr/>
          <p:nvPr/>
        </p:nvSpPr>
        <p:spPr>
          <a:xfrm>
            <a:off x="457200" y="5084064"/>
            <a:ext cx="1920240" cy="777240"/>
          </a:xfrm>
          <a:prstGeom prst="roundRect">
            <a:avLst/>
          </a:prstGeom>
          <a:solidFill>
            <a:srgbClr val="DEF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Standardized</a:t>
            </a:r>
          </a:p>
          <a:p>
            <a:pPr algn="ctr"/>
            <a:r>
              <a:rPr sz="1150" b="1">
                <a:solidFill>
                  <a:srgbClr val="2A1B54"/>
                </a:solidFill>
                <a:latin typeface="Arial"/>
              </a:rPr>
              <a:t>Compliance Reports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2697480" y="3017520"/>
            <a:ext cx="9037015" cy="365760"/>
          </a:xfrm>
          <a:prstGeom prst="roundRect">
            <a:avLst/>
          </a:prstGeom>
          <a:solidFill>
            <a:srgbClr val="F1E8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300" b="1">
                <a:solidFill>
                  <a:srgbClr val="2A1B54"/>
                </a:solidFill>
                <a:latin typeface="Arial"/>
              </a:rPr>
              <a:t>MetroCert Dashboard (Proposed)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2697480" y="3383280"/>
            <a:ext cx="9037015" cy="2395728"/>
          </a:xfrm>
          <a:prstGeom prst="roundRect">
            <a:avLst/>
          </a:prstGeom>
          <a:solidFill>
            <a:srgbClr val="1A1A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</a:p>
        </p:txBody>
      </p:sp>
      <p:sp>
        <p:nvSpPr>
          <p:cNvPr id="17432" name="Rectangle 17431"/>
          <p:cNvSpPr/>
          <p:nvPr/>
        </p:nvSpPr>
        <p:spPr>
          <a:xfrm>
            <a:off x="2697480" y="3383280"/>
            <a:ext cx="1188720" cy="2395728"/>
          </a:xfrm>
          <a:prstGeom prst="rect">
            <a:avLst/>
          </a:prstGeom>
          <a:solidFill>
            <a:srgbClr val="121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TextBox 17432"/>
          <p:cNvSpPr txBox="1"/>
          <p:nvPr/>
        </p:nvSpPr>
        <p:spPr>
          <a:xfrm>
            <a:off x="2807208" y="3566160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C8D4"/>
                </a:solidFill>
                <a:latin typeface="Arial"/>
              </a:rPr>
              <a:t>Dashboard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2807208" y="3858768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C8D4"/>
                </a:solidFill>
                <a:latin typeface="Arial"/>
              </a:rPr>
              <a:t>New Report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2807208" y="4151376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C8D4"/>
                </a:solidFill>
                <a:latin typeface="Arial"/>
              </a:rPr>
              <a:t>Repository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2807208" y="4443984"/>
            <a:ext cx="1005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C8C8D4"/>
                </a:solidFill>
                <a:latin typeface="Arial"/>
              </a:rPr>
              <a:t>Instruments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023360" y="3520440"/>
            <a:ext cx="757397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Georgia"/>
              </a:rPr>
              <a:t>Overview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023360" y="3840480"/>
            <a:ext cx="2463698" cy="566928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750">
                <a:solidFill>
                  <a:srgbClr val="9A9AAA"/>
                </a:solidFill>
                <a:latin typeface="Arial"/>
              </a:rPr>
              <a:t>Reports Generated</a:t>
            </a:r>
          </a:p>
          <a:p>
            <a:r>
              <a:rPr sz="1500" b="1">
                <a:solidFill>
                  <a:srgbClr val="FFFFFF"/>
                </a:solidFill>
                <a:latin typeface="Arial"/>
              </a:rPr>
              <a:t>128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6578498" y="3840480"/>
            <a:ext cx="2463698" cy="566928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750">
                <a:solidFill>
                  <a:srgbClr val="9A9AAA"/>
                </a:solidFill>
                <a:latin typeface="Arial"/>
              </a:rPr>
              <a:t>Pass Rate</a:t>
            </a:r>
          </a:p>
          <a:p>
            <a:r>
              <a:rPr sz="1500" b="1">
                <a:solidFill>
                  <a:srgbClr val="FFFFFF"/>
                </a:solidFill>
                <a:latin typeface="Arial"/>
              </a:rPr>
              <a:t>91%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9133636" y="3840480"/>
            <a:ext cx="2463698" cy="566928"/>
          </a:xfrm>
          <a:prstGeom prst="roundRect">
            <a:avLst/>
          </a:prstGeom>
          <a:solidFill>
            <a:srgbClr val="2A2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36576"/>
          <a:lstStyle/>
          <a:p>
            <a:pPr algn="ctr"/>
            <a:r>
              <a:rPr sz="750">
                <a:solidFill>
                  <a:srgbClr val="9A9AAA"/>
                </a:solidFill>
                <a:latin typeface="Arial"/>
              </a:rPr>
              <a:t>Pending Review</a:t>
            </a:r>
          </a:p>
          <a:p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41" name="Rectangle 17440"/>
          <p:cNvSpPr/>
          <p:nvPr/>
        </p:nvSpPr>
        <p:spPr>
          <a:xfrm>
            <a:off x="4023360" y="4572000"/>
            <a:ext cx="7573975" cy="237744"/>
          </a:xfrm>
          <a:prstGeom prst="rect">
            <a:avLst/>
          </a:prstGeom>
          <a:solidFill>
            <a:srgbClr val="1E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C8C8D4"/>
                </a:solidFill>
                <a:latin typeface="Arial"/>
              </a:rPr>
              <a:t>TR-2026-140   ·   Weighbridge WB-1   ·   Status: Pass</a:t>
            </a:r>
          </a:p>
        </p:txBody>
      </p:sp>
      <p:sp>
        <p:nvSpPr>
          <p:cNvPr id="17442" name="Rectangle 17441"/>
          <p:cNvSpPr/>
          <p:nvPr/>
        </p:nvSpPr>
        <p:spPr>
          <a:xfrm>
            <a:off x="4023360" y="4846320"/>
            <a:ext cx="7573975" cy="237744"/>
          </a:xfrm>
          <a:prstGeom prst="rect">
            <a:avLst/>
          </a:prstGeom>
          <a:solidFill>
            <a:srgbClr val="222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C8C8D4"/>
                </a:solidFill>
                <a:latin typeface="Arial"/>
              </a:rPr>
              <a:t>TR-2026-141   ·   Weighbridge WB-2   ·   Status: Pass</a:t>
            </a:r>
          </a:p>
        </p:txBody>
      </p:sp>
      <p:sp>
        <p:nvSpPr>
          <p:cNvPr id="17443" name="Rectangle 17442"/>
          <p:cNvSpPr/>
          <p:nvPr/>
        </p:nvSpPr>
        <p:spPr>
          <a:xfrm>
            <a:off x="4023360" y="5120640"/>
            <a:ext cx="7573975" cy="237744"/>
          </a:xfrm>
          <a:prstGeom prst="rect">
            <a:avLst/>
          </a:prstGeom>
          <a:solidFill>
            <a:srgbClr val="1E1E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>
                <a:solidFill>
                  <a:srgbClr val="C8C8D4"/>
                </a:solidFill>
                <a:latin typeface="Arial"/>
              </a:rPr>
              <a:t>TR-2026-142   ·   Weighbridge WB-3   ·   Status: In Review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2697480" y="5815584"/>
            <a:ext cx="9037015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8A93A3"/>
                </a:solidFill>
                <a:latin typeface="Arial"/>
              </a:rPr>
              <a:t>CONCEPT UI — PROPOSED, NOT YET BUILT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