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-1188720" y="-1188720"/>
            <a:ext cx="2377440" cy="237744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40" name="Oval 39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1920240"/>
            <a:ext cx="6035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422F6C"/>
                </a:solidFill>
                <a:latin typeface="Georgia"/>
              </a:rPr>
              <a:t>ARGUS  </a:t>
            </a:r>
            <a:r>
              <a:rPr sz="4000">
                <a:latin typeface="Segoe UI Emoji"/>
              </a:rPr>
              <a:t>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27889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A1B54"/>
                </a:solidFill>
                <a:latin typeface="Arial"/>
              </a:rPr>
              <a:t>Explainable Dark-Web Threat Actor De-anonymization &amp; Attribution Platform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356616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8A93A3"/>
                </a:solidFill>
                <a:latin typeface="Arial"/>
              </a:rPr>
              <a:t>Problem Statement: Dark Web Threat Actor De-anonymization   ·   PS Category: Software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3977639"/>
            <a:ext cx="3200400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00" b="1">
                <a:solidFill>
                  <a:srgbClr val="25467E"/>
                </a:solidFill>
                <a:latin typeface="Arial"/>
              </a:rPr>
              <a:t>PS ID</a:t>
            </a:r>
          </a:p>
          <a:p>
            <a:pPr algn="ctr"/>
            <a:r>
              <a:rPr sz="1500" b="1">
                <a:solidFill>
                  <a:srgbClr val="2A1B54"/>
                </a:solidFill>
                <a:latin typeface="Arial"/>
              </a:rPr>
              <a:t>26151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67912" y="3977639"/>
            <a:ext cx="3200400" cy="77724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00" b="1">
                <a:solidFill>
                  <a:srgbClr val="25467E"/>
                </a:solidFill>
                <a:latin typeface="Arial"/>
              </a:rPr>
              <a:t>THEME</a:t>
            </a:r>
          </a:p>
          <a:p>
            <a:pPr algn="ctr"/>
            <a:r>
              <a:rPr sz="1500" b="1">
                <a:solidFill>
                  <a:srgbClr val="2A1B54"/>
                </a:solidFill>
                <a:latin typeface="Arial"/>
              </a:rPr>
              <a:t>Blockchain &amp; Cybersecurity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919471"/>
            <a:ext cx="3200400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00" b="1">
                <a:solidFill>
                  <a:srgbClr val="25467E"/>
                </a:solidFill>
                <a:latin typeface="Arial"/>
              </a:rPr>
              <a:t>ORGANIZATION</a:t>
            </a:r>
          </a:p>
          <a:p>
            <a:pPr algn="ctr"/>
            <a:r>
              <a:rPr sz="1500" b="1">
                <a:solidFill>
                  <a:srgbClr val="2A1B54"/>
                </a:solidFill>
                <a:latin typeface="Arial"/>
              </a:rPr>
              <a:t>NTRO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67912" y="4919471"/>
            <a:ext cx="3200400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00" b="1">
                <a:solidFill>
                  <a:srgbClr val="25467E"/>
                </a:solidFill>
                <a:latin typeface="Arial"/>
              </a:rPr>
              <a:t>TEAM</a:t>
            </a:r>
          </a:p>
          <a:p>
            <a:pPr algn="ctr"/>
            <a:r>
              <a:rPr sz="1500" b="1">
                <a:solidFill>
                  <a:srgbClr val="2A1B54"/>
                </a:solidFill>
                <a:latin typeface="Arial"/>
              </a:rPr>
              <a:t>Team Nexus  •  T141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02920" y="5870448"/>
            <a:ext cx="5623560" cy="0"/>
          </a:xfrm>
          <a:prstGeom prst="line">
            <a:avLst/>
          </a:prstGeom>
          <a:ln w="15875">
            <a:solidFill>
              <a:srgbClr val="422F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02920" y="598932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467E"/>
                </a:solidFill>
                <a:latin typeface="Arial"/>
              </a:rPr>
              <a:t>FROM FRAGMENTED CLUES TO EXPLAINABLE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 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Oval 15362"/>
          <p:cNvSpPr/>
          <p:nvPr/>
        </p:nvSpPr>
        <p:spPr>
          <a:xfrm>
            <a:off x="-1188720" y="-1188720"/>
            <a:ext cx="2377440" cy="237744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ectangle 15363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The Problem → Our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Dark-web investigations are fragmented across identities, platforms, infrastructure and linguistic traces.</a:t>
            </a:r>
          </a:p>
        </p:txBody>
      </p:sp>
      <p:sp>
        <p:nvSpPr>
          <p:cNvPr id="15367" name="Oval 15366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ounded Rectangle 15367"/>
          <p:cNvSpPr/>
          <p:nvPr/>
        </p:nvSpPr>
        <p:spPr>
          <a:xfrm>
            <a:off x="457200" y="1828800"/>
            <a:ext cx="3364992" cy="384048"/>
          </a:xfrm>
          <a:prstGeom prst="roundRect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Fragmented Clues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57200" y="2212848"/>
            <a:ext cx="3364992" cy="28620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640080" y="2423160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👤  </a:t>
            </a:r>
            <a:r>
              <a:rPr sz="1200">
                <a:solidFill>
                  <a:srgbClr val="222833"/>
                </a:solidFill>
                <a:latin typeface="Arial"/>
              </a:rPr>
              <a:t>Pseudonyms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640080" y="2953512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📈  </a:t>
            </a:r>
            <a:r>
              <a:rPr sz="1200">
                <a:solidFill>
                  <a:srgbClr val="222833"/>
                </a:solidFill>
                <a:latin typeface="Arial"/>
              </a:rPr>
              <a:t>Forums &amp; Markets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640080" y="3483864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🖥  </a:t>
            </a:r>
            <a:r>
              <a:rPr sz="1200">
                <a:solidFill>
                  <a:srgbClr val="222833"/>
                </a:solidFill>
                <a:latin typeface="Arial"/>
              </a:rPr>
              <a:t>Infrastructure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640080" y="4014216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🔐  </a:t>
            </a:r>
            <a:r>
              <a:rPr sz="1200">
                <a:solidFill>
                  <a:srgbClr val="222833"/>
                </a:solidFill>
                <a:latin typeface="Arial"/>
              </a:rPr>
              <a:t>Wallets &amp; PGP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640080" y="45445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🔗  </a:t>
            </a:r>
            <a:r>
              <a:rPr sz="1200">
                <a:solidFill>
                  <a:srgbClr val="222833"/>
                </a:solidFill>
                <a:latin typeface="Arial"/>
              </a:rPr>
              <a:t>Linguistic Traces</a:t>
            </a:r>
          </a:p>
        </p:txBody>
      </p:sp>
      <p:sp>
        <p:nvSpPr>
          <p:cNvPr id="15375" name="Right Arrow 15374"/>
          <p:cNvSpPr/>
          <p:nvPr/>
        </p:nvSpPr>
        <p:spPr>
          <a:xfrm>
            <a:off x="3895344" y="3314700"/>
            <a:ext cx="457200" cy="274320"/>
          </a:xfrm>
          <a:prstGeom prst="rightArrow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4507992" y="1783080"/>
            <a:ext cx="3172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422F6C"/>
                </a:solidFill>
                <a:latin typeface="Georgia"/>
              </a:rPr>
              <a:t>ARGUS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507992" y="2212848"/>
            <a:ext cx="3172968" cy="77724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78" name="Oval 15377"/>
          <p:cNvSpPr/>
          <p:nvPr/>
        </p:nvSpPr>
        <p:spPr>
          <a:xfrm>
            <a:off x="4617720" y="2391156"/>
            <a:ext cx="420624" cy="420624"/>
          </a:xfrm>
          <a:prstGeom prst="ellipse">
            <a:avLst/>
          </a:prstGeom>
          <a:solidFill>
            <a:srgbClr val="5B3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5129784" y="2267712"/>
            <a:ext cx="2441448" cy="6675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2A1B54"/>
                </a:solidFill>
                <a:latin typeface="Arial"/>
              </a:rPr>
              <a:t>Infrastructure</a:t>
            </a:r>
          </a:p>
          <a:p>
            <a:r>
              <a:rPr sz="1250" b="1">
                <a:solidFill>
                  <a:srgbClr val="2A1B54"/>
                </a:solidFill>
                <a:latin typeface="Arial"/>
              </a:rPr>
              <a:t>De-anonymization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4507992" y="3127248"/>
            <a:ext cx="3172968" cy="77724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81" name="Oval 15380"/>
          <p:cNvSpPr/>
          <p:nvPr/>
        </p:nvSpPr>
        <p:spPr>
          <a:xfrm>
            <a:off x="4617720" y="3305556"/>
            <a:ext cx="420624" cy="420624"/>
          </a:xfrm>
          <a:prstGeom prst="ellipse">
            <a:avLst/>
          </a:prstGeom>
          <a:solidFill>
            <a:srgbClr val="1F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5129784" y="3182112"/>
            <a:ext cx="2441448" cy="6675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2A1B54"/>
                </a:solidFill>
                <a:latin typeface="Arial"/>
              </a:rPr>
              <a:t>Cross-Platform</a:t>
            </a:r>
          </a:p>
          <a:p>
            <a:r>
              <a:rPr sz="1250" b="1">
                <a:solidFill>
                  <a:srgbClr val="2A1B54"/>
                </a:solidFill>
                <a:latin typeface="Arial"/>
              </a:rPr>
              <a:t>Actor Correlation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4507992" y="4041648"/>
            <a:ext cx="3172968" cy="77724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84" name="Oval 15383"/>
          <p:cNvSpPr/>
          <p:nvPr/>
        </p:nvSpPr>
        <p:spPr>
          <a:xfrm>
            <a:off x="4617720" y="4219956"/>
            <a:ext cx="420624" cy="420624"/>
          </a:xfrm>
          <a:prstGeom prst="ellipse">
            <a:avLst/>
          </a:prstGeom>
          <a:solidFill>
            <a:srgbClr val="1E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5129784" y="4096512"/>
            <a:ext cx="2441448" cy="6675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2A1B54"/>
                </a:solidFill>
                <a:latin typeface="Arial"/>
              </a:rPr>
              <a:t>AI Persona</a:t>
            </a:r>
          </a:p>
          <a:p>
            <a:r>
              <a:rPr sz="1250" b="1">
                <a:solidFill>
                  <a:srgbClr val="2A1B54"/>
                </a:solidFill>
                <a:latin typeface="Arial"/>
              </a:rPr>
              <a:t>Attribution</a:t>
            </a:r>
          </a:p>
        </p:txBody>
      </p:sp>
      <p:sp>
        <p:nvSpPr>
          <p:cNvPr id="15386" name="Right Arrow 15385"/>
          <p:cNvSpPr/>
          <p:nvPr/>
        </p:nvSpPr>
        <p:spPr>
          <a:xfrm>
            <a:off x="7754112" y="3314700"/>
            <a:ext cx="457200" cy="274320"/>
          </a:xfrm>
          <a:prstGeom prst="rightArrow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7" name="Rounded Rectangle 15386"/>
          <p:cNvSpPr/>
          <p:nvPr/>
        </p:nvSpPr>
        <p:spPr>
          <a:xfrm>
            <a:off x="8366760" y="1828800"/>
            <a:ext cx="3364992" cy="384048"/>
          </a:xfrm>
          <a:prstGeom prst="roundRect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Unified Intelligence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8366760" y="2212848"/>
            <a:ext cx="3364992" cy="28620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15389" name="Picture 15388" descr="dashboard_cro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359152"/>
            <a:ext cx="3182112" cy="1015027"/>
          </a:xfrm>
          <a:prstGeom prst="rect">
            <a:avLst/>
          </a:prstGeom>
          <a:ln w="9525">
            <a:solidFill>
              <a:srgbClr val="8A93A3"/>
            </a:solidFill>
          </a:ln>
        </p:spPr>
      </p:pic>
      <p:sp>
        <p:nvSpPr>
          <p:cNvPr id="15390" name="TextBox 15389"/>
          <p:cNvSpPr txBox="1"/>
          <p:nvPr/>
        </p:nvSpPr>
        <p:spPr>
          <a:xfrm>
            <a:off x="8549640" y="3538771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467E"/>
                </a:solidFill>
                <a:latin typeface="Segoe UI Emoji"/>
              </a:rPr>
              <a:t>🕸  </a:t>
            </a:r>
            <a:r>
              <a:rPr sz="1100">
                <a:solidFill>
                  <a:srgbClr val="222833"/>
                </a:solidFill>
                <a:latin typeface="Arial"/>
              </a:rPr>
              <a:t>Actor Graph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8549640" y="3849667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467E"/>
                </a:solidFill>
                <a:latin typeface="Segoe UI Emoji"/>
              </a:rPr>
              <a:t>🔗  </a:t>
            </a:r>
            <a:r>
              <a:rPr sz="1100">
                <a:solidFill>
                  <a:srgbClr val="222833"/>
                </a:solidFill>
                <a:latin typeface="Arial"/>
              </a:rPr>
              <a:t>Evidence Chain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8549640" y="4160563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467E"/>
                </a:solidFill>
                <a:latin typeface="Segoe UI Emoji"/>
              </a:rPr>
              <a:t>📊  </a:t>
            </a:r>
            <a:r>
              <a:rPr sz="1100">
                <a:solidFill>
                  <a:srgbClr val="222833"/>
                </a:solidFill>
                <a:latin typeface="Arial"/>
              </a:rPr>
              <a:t>Confidence Score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8549640" y="4471459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467E"/>
                </a:solidFill>
                <a:latin typeface="Segoe UI Emoji"/>
              </a:rPr>
              <a:t>📋  </a:t>
            </a:r>
            <a:r>
              <a:rPr sz="1100">
                <a:solidFill>
                  <a:srgbClr val="222833"/>
                </a:solidFill>
                <a:latin typeface="Arial"/>
              </a:rPr>
              <a:t>Explainable Attribution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365760" y="5303520"/>
            <a:ext cx="11457432" cy="685800"/>
          </a:xfrm>
          <a:prstGeom prst="roundRect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95" name="Rounded Rectangle 15394"/>
          <p:cNvSpPr/>
          <p:nvPr/>
        </p:nvSpPr>
        <p:spPr>
          <a:xfrm>
            <a:off x="457200" y="5394960"/>
            <a:ext cx="2167128" cy="50292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COLLECT</a:t>
            </a:r>
          </a:p>
        </p:txBody>
      </p:sp>
      <p:sp>
        <p:nvSpPr>
          <p:cNvPr id="15396" name="Right Arrow 15395"/>
          <p:cNvSpPr/>
          <p:nvPr/>
        </p:nvSpPr>
        <p:spPr>
          <a:xfrm>
            <a:off x="2642616" y="5573268"/>
            <a:ext cx="73152" cy="146304"/>
          </a:xfrm>
          <a:prstGeom prst="right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7" name="Rounded Rectangle 15396"/>
          <p:cNvSpPr/>
          <p:nvPr/>
        </p:nvSpPr>
        <p:spPr>
          <a:xfrm>
            <a:off x="2734056" y="5394960"/>
            <a:ext cx="2167128" cy="50292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CORRELATE</a:t>
            </a:r>
          </a:p>
        </p:txBody>
      </p:sp>
      <p:sp>
        <p:nvSpPr>
          <p:cNvPr id="15398" name="Right Arrow 15397"/>
          <p:cNvSpPr/>
          <p:nvPr/>
        </p:nvSpPr>
        <p:spPr>
          <a:xfrm>
            <a:off x="4919472" y="5573268"/>
            <a:ext cx="73152" cy="146304"/>
          </a:xfrm>
          <a:prstGeom prst="right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9" name="Rounded Rectangle 15398"/>
          <p:cNvSpPr/>
          <p:nvPr/>
        </p:nvSpPr>
        <p:spPr>
          <a:xfrm>
            <a:off x="5010912" y="5394960"/>
            <a:ext cx="2167128" cy="50292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ANALYZE</a:t>
            </a:r>
          </a:p>
        </p:txBody>
      </p:sp>
      <p:sp>
        <p:nvSpPr>
          <p:cNvPr id="15400" name="Right Arrow 15399"/>
          <p:cNvSpPr/>
          <p:nvPr/>
        </p:nvSpPr>
        <p:spPr>
          <a:xfrm>
            <a:off x="7196328" y="5573268"/>
            <a:ext cx="73152" cy="146304"/>
          </a:xfrm>
          <a:prstGeom prst="right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1" name="Rounded Rectangle 15400"/>
          <p:cNvSpPr/>
          <p:nvPr/>
        </p:nvSpPr>
        <p:spPr>
          <a:xfrm>
            <a:off x="7287768" y="5394960"/>
            <a:ext cx="2167128" cy="50292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ATTRIBUTE</a:t>
            </a:r>
          </a:p>
        </p:txBody>
      </p:sp>
      <p:sp>
        <p:nvSpPr>
          <p:cNvPr id="15402" name="Right Arrow 15401"/>
          <p:cNvSpPr/>
          <p:nvPr/>
        </p:nvSpPr>
        <p:spPr>
          <a:xfrm>
            <a:off x="9473184" y="5573268"/>
            <a:ext cx="73152" cy="146304"/>
          </a:xfrm>
          <a:prstGeom prst="right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3" name="Rounded Rectangle 15402"/>
          <p:cNvSpPr/>
          <p:nvPr/>
        </p:nvSpPr>
        <p:spPr>
          <a:xfrm>
            <a:off x="9564624" y="5394960"/>
            <a:ext cx="2167128" cy="50292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 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Oval 17410"/>
          <p:cNvSpPr/>
          <p:nvPr/>
        </p:nvSpPr>
        <p:spPr>
          <a:xfrm>
            <a:off x="-1188720" y="-1188720"/>
            <a:ext cx="2377440" cy="237744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Technical Approach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From raw intelligence to explainable, evidence-backed attribution.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57200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🗄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Data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Sources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1764792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1883664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⚙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Ingestion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3191256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3310128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📄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Normalization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4617720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4736592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🧠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Multi-Modal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Analysis</a:t>
            </a:r>
          </a:p>
        </p:txBody>
      </p:sp>
      <p:sp>
        <p:nvSpPr>
          <p:cNvPr id="17423" name="Right Arrow 17422"/>
          <p:cNvSpPr/>
          <p:nvPr/>
        </p:nvSpPr>
        <p:spPr>
          <a:xfrm>
            <a:off x="6044184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6163056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🔗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Entity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Resolution</a:t>
            </a:r>
          </a:p>
        </p:txBody>
      </p:sp>
      <p:sp>
        <p:nvSpPr>
          <p:cNvPr id="17425" name="Right Arrow 17424"/>
          <p:cNvSpPr/>
          <p:nvPr/>
        </p:nvSpPr>
        <p:spPr>
          <a:xfrm>
            <a:off x="7470648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7589520" y="1691640"/>
            <a:ext cx="1298448" cy="868680"/>
          </a:xfrm>
          <a:prstGeom prst="roundRect">
            <a:avLst/>
          </a:prstGeom>
          <a:solidFill>
            <a:srgbClr val="DEFAE9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🕸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Neo4j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Evidence Graph</a:t>
            </a:r>
          </a:p>
        </p:txBody>
      </p:sp>
      <p:sp>
        <p:nvSpPr>
          <p:cNvPr id="17427" name="Right Arrow 17426"/>
          <p:cNvSpPr/>
          <p:nvPr/>
        </p:nvSpPr>
        <p:spPr>
          <a:xfrm>
            <a:off x="8897112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9015984" y="1691640"/>
            <a:ext cx="1298448" cy="868680"/>
          </a:xfrm>
          <a:prstGeom prst="roundRect">
            <a:avLst/>
          </a:prstGeom>
          <a:solidFill>
            <a:srgbClr val="FDEED5"/>
          </a:solidFill>
          <a:ln w="12700">
            <a:solidFill>
              <a:srgbClr val="E4B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📈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Attribution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Engine</a:t>
            </a:r>
          </a:p>
        </p:txBody>
      </p:sp>
      <p:sp>
        <p:nvSpPr>
          <p:cNvPr id="17429" name="Right Arrow 17428"/>
          <p:cNvSpPr/>
          <p:nvPr/>
        </p:nvSpPr>
        <p:spPr>
          <a:xfrm>
            <a:off x="10323576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10442448" y="1691640"/>
            <a:ext cx="1298448" cy="86868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🖥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ARGUS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Dashboard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57200" y="2834640"/>
            <a:ext cx="2697480" cy="713232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📡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Infrastructure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Analysis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319272" y="2834640"/>
            <a:ext cx="2697480" cy="713232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📇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Identity / IOC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Extraction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181344" y="2834640"/>
            <a:ext cx="2697480" cy="713232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✍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Stylometry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(Burrows’ Delta)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9043416" y="2834640"/>
            <a:ext cx="2697480" cy="713232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📉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Behavioral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Analysis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5294376" y="2578608"/>
            <a:ext cx="182880" cy="201168"/>
          </a:xfrm>
          <a:prstGeom prst="downArrow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457200" y="386791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A1B54"/>
                </a:solidFill>
                <a:latin typeface="Arial"/>
              </a:rPr>
              <a:t>Key Metrics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57200" y="4197096"/>
            <a:ext cx="2723083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5B3A9E"/>
                </a:solidFill>
                <a:latin typeface="Arial"/>
              </a:rPr>
              <a:t>5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Infrastructure
signals checked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308299" y="4197096"/>
            <a:ext cx="2723083" cy="77724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1F5C9E"/>
                </a:solidFill>
                <a:latin typeface="Arial"/>
              </a:rPr>
              <a:t>65/20/15%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Infrastructure /
Identity / Behavior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6159398" y="4197096"/>
            <a:ext cx="2723083" cy="777240"/>
          </a:xfrm>
          <a:prstGeom prst="roundRect">
            <a:avLst/>
          </a:prstGeom>
          <a:solidFill>
            <a:srgbClr val="DEFAE9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1E8A4A"/>
                </a:solidFill>
                <a:latin typeface="Arial"/>
              </a:rPr>
              <a:t>6 HRS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Autonomous
re-collection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9010497" y="4197096"/>
            <a:ext cx="2723083" cy="777240"/>
          </a:xfrm>
          <a:prstGeom prst="roundRect">
            <a:avLst/>
          </a:prstGeom>
          <a:solidFill>
            <a:srgbClr val="FDEED5"/>
          </a:solidFill>
          <a:ln w="12700">
            <a:solidFill>
              <a:srgbClr val="E4B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C26A14"/>
                </a:solidFill>
                <a:latin typeface="Arial"/>
              </a:rPr>
              <a:t>3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Export formats
CSV / JSON / PDF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57200" y="5202936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A1B54"/>
                </a:solidFill>
                <a:latin typeface="Arial"/>
              </a:rPr>
              <a:t>Technology Stack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57200" y="5532120"/>
            <a:ext cx="11274552" cy="384048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25467E"/>
                </a:solidFill>
                <a:latin typeface="Arial"/>
              </a:rPr>
              <a:t>React + TS  |  FastAPI  |  Python  |  PostgreSQL  |  Neo4j  |  Redis  |  Celery  |  MISP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Oval 17410"/>
          <p:cNvSpPr/>
          <p:nvPr/>
        </p:nvSpPr>
        <p:spPr>
          <a:xfrm>
            <a:off x="-1188720" y="-1188720"/>
            <a:ext cx="2377440" cy="237744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Feasibility and Viability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Real-world challenges, practical solutions, working prototype.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57200" y="1600200"/>
            <a:ext cx="3794760" cy="347472"/>
          </a:xfrm>
          <a:prstGeom prst="roundRect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Challenge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306824" y="1600200"/>
            <a:ext cx="3794760" cy="347472"/>
          </a:xfrm>
          <a:prstGeom prst="roundRect">
            <a:avLst/>
          </a:prstGeom>
          <a:solidFill>
            <a:srgbClr val="2E7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Our Engineering Response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30352" y="1975104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📡  </a:t>
            </a:r>
            <a:r>
              <a:rPr sz="950">
                <a:solidFill>
                  <a:srgbClr val="222833"/>
                </a:solidFill>
                <a:latin typeface="Arial"/>
              </a:rPr>
              <a:t>Restricted / changing
dark-web sources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4233672" y="2121408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4379976" y="1975104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Authorized intelligence feeds + public research datasets + controlled datasets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457200" y="2459736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TextBox 17421"/>
          <p:cNvSpPr txBox="1"/>
          <p:nvPr/>
        </p:nvSpPr>
        <p:spPr>
          <a:xfrm>
            <a:off x="530352" y="2487168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🔍  </a:t>
            </a:r>
            <a:r>
              <a:rPr sz="950">
                <a:solidFill>
                  <a:srgbClr val="222833"/>
                </a:solidFill>
                <a:latin typeface="Arial"/>
              </a:rPr>
              <a:t>Sparse or incomplete
evidence</a:t>
            </a:r>
          </a:p>
        </p:txBody>
      </p:sp>
      <p:sp>
        <p:nvSpPr>
          <p:cNvPr id="17423" name="Right Arrow 17422"/>
          <p:cNvSpPr/>
          <p:nvPr/>
        </p:nvSpPr>
        <p:spPr>
          <a:xfrm>
            <a:off x="4233672" y="2633472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4379976" y="2487168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Multi-signal attribution across infrastructure, identity, and behaviour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457200" y="2971800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TextBox 17425"/>
          <p:cNvSpPr txBox="1"/>
          <p:nvPr/>
        </p:nvSpPr>
        <p:spPr>
          <a:xfrm>
            <a:off x="530352" y="2999232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❌  </a:t>
            </a:r>
            <a:r>
              <a:rPr sz="950">
                <a:solidFill>
                  <a:srgbClr val="222833"/>
                </a:solidFill>
                <a:latin typeface="Arial"/>
              </a:rPr>
              <a:t>False attribution</a:t>
            </a:r>
          </a:p>
        </p:txBody>
      </p:sp>
      <p:sp>
        <p:nvSpPr>
          <p:cNvPr id="17427" name="Right Arrow 17426"/>
          <p:cNvSpPr/>
          <p:nvPr/>
        </p:nvSpPr>
        <p:spPr>
          <a:xfrm>
            <a:off x="4233672" y="3145536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4379976" y="2999232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Confidence scoring + evidence provenance + explainability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457200" y="3483864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TextBox 17429"/>
          <p:cNvSpPr txBox="1"/>
          <p:nvPr/>
        </p:nvSpPr>
        <p:spPr>
          <a:xfrm>
            <a:off x="530352" y="3511296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🔄  </a:t>
            </a:r>
            <a:r>
              <a:rPr sz="950">
                <a:solidFill>
                  <a:srgbClr val="222833"/>
                </a:solidFill>
                <a:latin typeface="Arial"/>
              </a:rPr>
              <a:t>Dynamic / migrated
personas</a:t>
            </a:r>
          </a:p>
        </p:txBody>
      </p:sp>
      <p:sp>
        <p:nvSpPr>
          <p:cNvPr id="17431" name="Right Arrow 17430"/>
          <p:cNvSpPr/>
          <p:nvPr/>
        </p:nvSpPr>
        <p:spPr>
          <a:xfrm>
            <a:off x="4233672" y="3657600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4379976" y="3511296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Temporal analysis + incremental re-analysis every 6 hours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457200" y="3995928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TextBox 17433"/>
          <p:cNvSpPr txBox="1"/>
          <p:nvPr/>
        </p:nvSpPr>
        <p:spPr>
          <a:xfrm>
            <a:off x="530352" y="4023360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🔒  </a:t>
            </a:r>
            <a:r>
              <a:rPr sz="950">
                <a:solidFill>
                  <a:srgbClr val="222833"/>
                </a:solidFill>
                <a:latin typeface="Arial"/>
              </a:rPr>
              <a:t>Sensitive data</a:t>
            </a:r>
          </a:p>
        </p:txBody>
      </p:sp>
      <p:sp>
        <p:nvSpPr>
          <p:cNvPr id="17435" name="Right Arrow 17434"/>
          <p:cNvSpPr/>
          <p:nvPr/>
        </p:nvSpPr>
        <p:spPr>
          <a:xfrm>
            <a:off x="4233672" y="4169664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4379976" y="4023360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Data minimization + controlled, authorized sources only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457200" y="4507992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Rounded Rectangle 17437"/>
          <p:cNvSpPr/>
          <p:nvPr/>
        </p:nvSpPr>
        <p:spPr>
          <a:xfrm>
            <a:off x="8238744" y="1600200"/>
            <a:ext cx="3495751" cy="347472"/>
          </a:xfrm>
          <a:prstGeom prst="roundRect">
            <a:avLst/>
          </a:prstGeom>
          <a:solidFill>
            <a:srgbClr val="E3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2A1B54"/>
                </a:solidFill>
                <a:latin typeface="Arial"/>
              </a:rPr>
              <a:t>Actor Profile (Evidence)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8238744" y="1947672"/>
            <a:ext cx="3495751" cy="192024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17440" name="Picture 17439" descr="actor_profile_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184" y="2181285"/>
            <a:ext cx="3312871" cy="1453013"/>
          </a:xfrm>
          <a:prstGeom prst="rect">
            <a:avLst/>
          </a:prstGeom>
        </p:spPr>
      </p:pic>
      <p:sp>
        <p:nvSpPr>
          <p:cNvPr id="17441" name="Rounded Rectangle 17440"/>
          <p:cNvSpPr/>
          <p:nvPr/>
        </p:nvSpPr>
        <p:spPr>
          <a:xfrm>
            <a:off x="457200" y="4645152"/>
            <a:ext cx="7644384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2A1B54"/>
                </a:solidFill>
                <a:latin typeface="Arial"/>
              </a:rPr>
              <a:t>Why ARGUS is Feasible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Functional prototype — not a concept slide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Working Neo4j relationship graph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Stylometric analysis (Burrows’ Delta)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MISP threat-intel integration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CSV / JSON / PDF export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8238744" y="4005072"/>
            <a:ext cx="3495751" cy="2240280"/>
          </a:xfrm>
          <a:prstGeom prst="roundRect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WORKING PROTOTYPE</a:t>
            </a:r>
          </a:p>
          <a:p>
            <a:pPr algn="ctr"/>
            <a:r>
              <a:rPr sz="1000" b="1">
                <a:solidFill>
                  <a:srgbClr val="E6DCF7"/>
                </a:solidFill>
                <a:latin typeface="Arial"/>
              </a:rPr>
              <a:t>NOT JUST A CONCEPT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Oval 17410"/>
          <p:cNvSpPr/>
          <p:nvPr/>
        </p:nvSpPr>
        <p:spPr>
          <a:xfrm>
            <a:off x="-1188720" y="-1188720"/>
            <a:ext cx="2377440" cy="237744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Impact and Benefits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Transforming dark-web intelligence into actionable insights.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57200" y="1691640"/>
            <a:ext cx="2153412" cy="777240"/>
          </a:xfrm>
          <a:prstGeom prst="round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2A1B54"/>
                </a:solidFill>
                <a:latin typeface="Arial"/>
              </a:rPr>
              <a:t>Fragmented</a:t>
            </a:r>
          </a:p>
          <a:p>
            <a:pPr algn="ctr"/>
            <a:r>
              <a:rPr sz="1100" b="1">
                <a:solidFill>
                  <a:srgbClr val="2A1B54"/>
                </a:solidFill>
                <a:latin typeface="Arial"/>
              </a:rPr>
              <a:t>Intelligence +</a:t>
            </a:r>
          </a:p>
          <a:p>
            <a:pPr algn="ctr"/>
            <a:r>
              <a:rPr sz="1100" b="1">
                <a:solidFill>
                  <a:srgbClr val="2A1B54"/>
                </a:solidFill>
                <a:latin typeface="Arial"/>
              </a:rPr>
              <a:t>Manual Correlation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2619756" y="1997964"/>
            <a:ext cx="109728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2738628" y="1691640"/>
            <a:ext cx="2153412" cy="777240"/>
          </a:xfrm>
          <a:prstGeom prst="roundRect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ARGUS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4901184" y="1997964"/>
            <a:ext cx="109728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5020056" y="1691640"/>
            <a:ext cx="2153412" cy="77724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25467E"/>
                </a:solidFill>
                <a:latin typeface="Arial"/>
              </a:rPr>
              <a:t>Unified</a:t>
            </a:r>
          </a:p>
          <a:p>
            <a:pPr algn="ctr"/>
            <a:r>
              <a:rPr sz="1100" b="1">
                <a:solidFill>
                  <a:srgbClr val="25467E"/>
                </a:solidFill>
                <a:latin typeface="Arial"/>
              </a:rPr>
              <a:t>Evidence Graph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7182612" y="1997964"/>
            <a:ext cx="109728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7301484" y="1691640"/>
            <a:ext cx="2153412" cy="777240"/>
          </a:xfrm>
          <a:prstGeom prst="roundRect">
            <a:avLst/>
          </a:prstGeom>
          <a:solidFill>
            <a:srgbClr val="DEF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1E6B3A"/>
                </a:solidFill>
                <a:latin typeface="Arial"/>
              </a:rPr>
              <a:t>Explainable</a:t>
            </a:r>
          </a:p>
          <a:p>
            <a:pPr algn="ctr"/>
            <a:r>
              <a:rPr sz="1100" b="1">
                <a:solidFill>
                  <a:srgbClr val="1E6B3A"/>
                </a:solidFill>
                <a:latin typeface="Arial"/>
              </a:rPr>
              <a:t>Attribution</a:t>
            </a:r>
          </a:p>
        </p:txBody>
      </p:sp>
      <p:sp>
        <p:nvSpPr>
          <p:cNvPr id="17423" name="Right Arrow 17422"/>
          <p:cNvSpPr/>
          <p:nvPr/>
        </p:nvSpPr>
        <p:spPr>
          <a:xfrm>
            <a:off x="9464040" y="1997964"/>
            <a:ext cx="109728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9582912" y="1691640"/>
            <a:ext cx="2153412" cy="77724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5B3A9E"/>
                </a:solidFill>
                <a:latin typeface="Arial"/>
              </a:rPr>
              <a:t>Faster</a:t>
            </a:r>
          </a:p>
          <a:p>
            <a:pPr algn="ctr"/>
            <a:r>
              <a:rPr sz="1100" b="1">
                <a:solidFill>
                  <a:srgbClr val="5B3A9E"/>
                </a:solidFill>
                <a:latin typeface="Arial"/>
              </a:rPr>
              <a:t>Investigation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57200" y="2697480"/>
            <a:ext cx="273679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>
                <a:solidFill>
                  <a:srgbClr val="2A1B54"/>
                </a:solidFill>
                <a:latin typeface="Segoe UI Emoji"/>
              </a:rPr>
              <a:t>🛡</a:t>
            </a:r>
          </a:p>
          <a:p>
            <a:pPr algn="ctr"/>
            <a:r>
              <a:rPr sz="1200" b="1">
                <a:solidFill>
                  <a:srgbClr val="2A1B54"/>
                </a:solidFill>
                <a:latin typeface="Arial"/>
              </a:rPr>
              <a:t>LAW ENFORCEMENT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Actor attribution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Evidence discovery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Investigation timelines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303727" y="2697480"/>
            <a:ext cx="273679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>
                <a:solidFill>
                  <a:srgbClr val="2A1B54"/>
                </a:solidFill>
                <a:latin typeface="Segoe UI Emoji"/>
              </a:rPr>
              <a:t>🏛</a:t>
            </a:r>
          </a:p>
          <a:p>
            <a:pPr algn="ctr"/>
            <a:r>
              <a:rPr sz="1200" b="1">
                <a:solidFill>
                  <a:srgbClr val="2A1B54"/>
                </a:solidFill>
                <a:latin typeface="Arial"/>
              </a:rPr>
              <a:t>NATIONAL SECURITY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Threat ecosystem mapping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Infrastructure intelligence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Actor monitoring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150254" y="2697480"/>
            <a:ext cx="273679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>
                <a:solidFill>
                  <a:srgbClr val="2A1B54"/>
                </a:solidFill>
                <a:latin typeface="Segoe UI Emoji"/>
              </a:rPr>
              <a:t>👥</a:t>
            </a:r>
          </a:p>
          <a:p>
            <a:pPr algn="ctr"/>
            <a:r>
              <a:rPr sz="1200" b="1">
                <a:solidFill>
                  <a:srgbClr val="2A1B54"/>
                </a:solidFill>
                <a:latin typeface="Arial"/>
              </a:rPr>
              <a:t>CYBER THREAT INTEL TEAMS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Cross-platform correlation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IOC enrichment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Threat actor profiling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8996781" y="2697480"/>
            <a:ext cx="273679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>
                <a:solidFill>
                  <a:srgbClr val="2A1B54"/>
                </a:solidFill>
                <a:latin typeface="Segoe UI Emoji"/>
              </a:rPr>
              <a:t>👤</a:t>
            </a:r>
          </a:p>
          <a:p>
            <a:pPr algn="ctr"/>
            <a:r>
              <a:rPr sz="1200" b="1">
                <a:solidFill>
                  <a:srgbClr val="2A1B54"/>
                </a:solidFill>
                <a:latin typeface="Arial"/>
              </a:rPr>
              <a:t>SECURITY RESEARCHERS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Persona evolution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Behavioural analysis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Dark-web ecosystem research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57200" y="45262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A1B54"/>
                </a:solidFill>
                <a:latin typeface="Arial"/>
              </a:rPr>
              <a:t>Key Outcomes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57200" y="4855464"/>
            <a:ext cx="2723083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5B3A9E"/>
                </a:solidFill>
                <a:latin typeface="Arial"/>
              </a:rPr>
              <a:t>4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Real-world OSINT
sources integrated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308299" y="4855464"/>
            <a:ext cx="2723083" cy="77724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1F5C9E"/>
                </a:solidFill>
                <a:latin typeface="Arial"/>
              </a:rPr>
              <a:t>6 HRS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Autonomous
re-collection cycle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6159398" y="4855464"/>
            <a:ext cx="2723083" cy="777240"/>
          </a:xfrm>
          <a:prstGeom prst="roundRect">
            <a:avLst/>
          </a:prstGeom>
          <a:solidFill>
            <a:srgbClr val="DEFAE9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1E8A4A"/>
                </a:solidFill>
                <a:latin typeface="Arial"/>
              </a:rPr>
              <a:t>3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Attribution signals
fused per actor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010497" y="4855464"/>
            <a:ext cx="2723083" cy="777240"/>
          </a:xfrm>
          <a:prstGeom prst="roundRect">
            <a:avLst/>
          </a:prstGeom>
          <a:solidFill>
            <a:srgbClr val="FDEED5"/>
          </a:solidFill>
          <a:ln w="12700">
            <a:solidFill>
              <a:srgbClr val="E4B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C26A14"/>
                </a:solidFill>
                <a:latin typeface="Arial"/>
              </a:rPr>
              <a:t>100%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Evidence traced
to source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Oval 17410"/>
          <p:cNvSpPr/>
          <p:nvPr/>
        </p:nvSpPr>
        <p:spPr>
          <a:xfrm>
            <a:off x="-1188720" y="-1188720"/>
            <a:ext cx="2377440" cy="237744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Research and References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Built on established research, proven methods and real intelligence sources.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57200" y="1691640"/>
            <a:ext cx="2736799" cy="384048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>
                <a:solidFill>
                  <a:srgbClr val="2A1B54"/>
                </a:solidFill>
                <a:latin typeface="Segoe UI Emoji"/>
              </a:rPr>
              <a:t>📡  </a:t>
            </a:r>
            <a:r>
              <a:rPr sz="1100" b="1">
                <a:solidFill>
                  <a:srgbClr val="2A1B54"/>
                </a:solidFill>
                <a:latin typeface="Arial"/>
              </a:rPr>
              <a:t>TOR / DARK-WEB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2075688"/>
            <a:ext cx="2736799" cy="6675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>
                <a:solidFill>
                  <a:srgbClr val="222833"/>
                </a:solidFill>
                <a:latin typeface="Arial"/>
              </a:rPr>
              <a:t>✓ Tor hidden services</a:t>
            </a:r>
          </a:p>
          <a:p>
            <a:r>
              <a:rPr sz="950">
                <a:solidFill>
                  <a:srgbClr val="222833"/>
                </a:solidFill>
                <a:latin typeface="Arial"/>
              </a:rPr>
              <a:t>✓ Onion infrastructure research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303727" y="1691640"/>
            <a:ext cx="2736799" cy="384048"/>
          </a:xfrm>
          <a:prstGeom prst="roundRect">
            <a:avLst/>
          </a:prstGeom>
          <a:solidFill>
            <a:srgbClr val="DEFAE9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>
                <a:solidFill>
                  <a:srgbClr val="2A1B54"/>
                </a:solidFill>
                <a:latin typeface="Segoe UI Emoji"/>
              </a:rPr>
              <a:t>✍  </a:t>
            </a:r>
            <a:r>
              <a:rPr sz="1100" b="1">
                <a:solidFill>
                  <a:srgbClr val="2A1B54"/>
                </a:solidFill>
                <a:latin typeface="Arial"/>
              </a:rPr>
              <a:t>STYLOMETRY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303727" y="2075688"/>
            <a:ext cx="2736799" cy="6675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>
                <a:solidFill>
                  <a:srgbClr val="222833"/>
                </a:solidFill>
                <a:latin typeface="Arial"/>
              </a:rPr>
              <a:t>✓ Authorship attribution</a:t>
            </a:r>
          </a:p>
          <a:p>
            <a:r>
              <a:rPr sz="950">
                <a:solidFill>
                  <a:srgbClr val="222833"/>
                </a:solidFill>
                <a:latin typeface="Arial"/>
              </a:rPr>
              <a:t>✓ Burrows’ Delta method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50254" y="1691640"/>
            <a:ext cx="2736799" cy="384048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>
                <a:solidFill>
                  <a:srgbClr val="2A1B54"/>
                </a:solidFill>
                <a:latin typeface="Segoe UI Emoji"/>
              </a:rPr>
              <a:t>🛡  </a:t>
            </a:r>
            <a:r>
              <a:rPr sz="1100" b="1">
                <a:solidFill>
                  <a:srgbClr val="2A1B54"/>
                </a:solidFill>
                <a:latin typeface="Arial"/>
              </a:rPr>
              <a:t>THREAT INTELLIGENCE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150254" y="2075688"/>
            <a:ext cx="2736799" cy="6675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>
                <a:solidFill>
                  <a:srgbClr val="222833"/>
                </a:solidFill>
                <a:latin typeface="Arial"/>
              </a:rPr>
              <a:t>✓ MISP (CIRCL, botvrij.eu)</a:t>
            </a:r>
          </a:p>
          <a:p>
            <a:r>
              <a:rPr sz="950">
                <a:solidFill>
                  <a:srgbClr val="222833"/>
                </a:solidFill>
                <a:latin typeface="Arial"/>
              </a:rPr>
              <a:t>✓ IOC correlation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8996781" y="1691640"/>
            <a:ext cx="2736799" cy="384048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>
                <a:solidFill>
                  <a:srgbClr val="2A1B54"/>
                </a:solidFill>
                <a:latin typeface="Segoe UI Emoji"/>
              </a:rPr>
              <a:t>🔗  </a:t>
            </a:r>
            <a:r>
              <a:rPr sz="1100" b="1">
                <a:solidFill>
                  <a:srgbClr val="2A1B54"/>
                </a:solidFill>
                <a:latin typeface="Arial"/>
              </a:rPr>
              <a:t>GRAPH / AI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996781" y="2075688"/>
            <a:ext cx="2736799" cy="6675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>
                <a:solidFill>
                  <a:srgbClr val="222833"/>
                </a:solidFill>
                <a:latin typeface="Arial"/>
              </a:rPr>
              <a:t>✓ Entity resolution</a:t>
            </a:r>
          </a:p>
          <a:p>
            <a:r>
              <a:rPr sz="950">
                <a:solidFill>
                  <a:srgbClr val="222833"/>
                </a:solidFill>
                <a:latin typeface="Arial"/>
              </a:rPr>
              <a:t>✓ Knowledge graphs (Neo4j)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57200" y="3017520"/>
            <a:ext cx="1920240" cy="77724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Research</a:t>
            </a:r>
          </a:p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Foundations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1335024" y="3813048"/>
            <a:ext cx="164592" cy="146304"/>
          </a:xfrm>
          <a:prstGeom prst="downArrow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457200" y="4050792"/>
            <a:ext cx="1920240" cy="77724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ARGUS</a:t>
            </a:r>
          </a:p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Capabilities</a:t>
            </a:r>
          </a:p>
        </p:txBody>
      </p:sp>
      <p:sp>
        <p:nvSpPr>
          <p:cNvPr id="17427" name="Down Arrow 17426"/>
          <p:cNvSpPr/>
          <p:nvPr/>
        </p:nvSpPr>
        <p:spPr>
          <a:xfrm>
            <a:off x="1335024" y="4846320"/>
            <a:ext cx="164592" cy="146304"/>
          </a:xfrm>
          <a:prstGeom prst="downArrow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457200" y="5084064"/>
            <a:ext cx="1920240" cy="777240"/>
          </a:xfrm>
          <a:prstGeom prst="roundRect">
            <a:avLst/>
          </a:prstGeom>
          <a:solidFill>
            <a:srgbClr val="DEF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Explainable</a:t>
            </a:r>
          </a:p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Outputs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2697480" y="3017520"/>
            <a:ext cx="9037015" cy="36576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2A1B54"/>
                </a:solidFill>
                <a:latin typeface="Arial"/>
              </a:rPr>
              <a:t>ARGUS Investigator Dashboard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2697480" y="3383280"/>
            <a:ext cx="9037015" cy="265176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17431" name="Picture 17430" descr="dashboard_cro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18" y="3474720"/>
            <a:ext cx="7739938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