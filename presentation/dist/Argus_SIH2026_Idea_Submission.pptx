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-1188720" y="-1188720"/>
            <a:ext cx="2377440" cy="237744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417320" y="201168"/>
            <a:ext cx="5120640" cy="457200"/>
          </a:xfrm>
          <a:prstGeom prst="rect">
            <a:avLst/>
          </a:prstGeom>
          <a:solidFill>
            <a:srgbClr val="6E5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SMART INDIA HACKATHON 2026</a:t>
            </a:r>
          </a:p>
        </p:txBody>
      </p:sp>
      <p:sp>
        <p:nvSpPr>
          <p:cNvPr id="40" name="Oval 39"/>
          <p:cNvSpPr/>
          <p:nvPr/>
        </p:nvSpPr>
        <p:spPr>
          <a:xfrm>
            <a:off x="11368735" y="6035040"/>
            <a:ext cx="1645920" cy="164592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1920240"/>
            <a:ext cx="6035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422F6C"/>
                </a:solidFill>
                <a:latin typeface="Georgia"/>
              </a:rPr>
              <a:t>ARGUS  </a:t>
            </a:r>
            <a:r>
              <a:rPr sz="4000">
                <a:latin typeface="Segoe UI Emoji"/>
              </a:rPr>
              <a:t>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27889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1B54"/>
                </a:solidFill>
                <a:latin typeface="Arial"/>
              </a:rPr>
              <a:t>Explainable Dark-Web Threat Actor De-anonymization &amp; Attribution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356616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8A93A3"/>
                </a:solidFill>
                <a:latin typeface="Arial"/>
              </a:rPr>
              <a:t>Problem Statement: Dark Web Threat Actor De-anonymization   ·   PS Category: Software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3977639"/>
            <a:ext cx="3200400" cy="777240"/>
          </a:xfrm>
          <a:prstGeom prst="roundRect">
            <a:avLst/>
          </a:prstGeom>
          <a:solidFill>
            <a:srgbClr val="F1E8FE"/>
          </a:solidFill>
          <a:ln w="12700">
            <a:solidFill>
              <a:srgbClr val="B9A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 b="1">
                <a:solidFill>
                  <a:srgbClr val="25467E"/>
                </a:solidFill>
                <a:latin typeface="Arial"/>
              </a:rPr>
              <a:t>PS ID</a:t>
            </a:r>
          </a:p>
          <a:p>
            <a:pPr algn="ctr"/>
            <a:r>
              <a:rPr sz="1500" b="1">
                <a:solidFill>
                  <a:srgbClr val="2A1B54"/>
                </a:solidFill>
                <a:latin typeface="Arial"/>
              </a:rPr>
              <a:t>26151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67912" y="3977639"/>
            <a:ext cx="3200400" cy="777240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 b="1">
                <a:solidFill>
                  <a:srgbClr val="25467E"/>
                </a:solidFill>
                <a:latin typeface="Arial"/>
              </a:rPr>
              <a:t>THEME</a:t>
            </a:r>
          </a:p>
          <a:p>
            <a:pPr algn="ctr"/>
            <a:r>
              <a:rPr sz="1500" b="1">
                <a:solidFill>
                  <a:srgbClr val="2A1B54"/>
                </a:solidFill>
                <a:latin typeface="Arial"/>
              </a:rPr>
              <a:t>Blockchain &amp; Cybersecurity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4919471"/>
            <a:ext cx="3200400" cy="777240"/>
          </a:xfrm>
          <a:prstGeom prst="roundRect">
            <a:avLst/>
          </a:prstGeom>
          <a:solidFill>
            <a:srgbClr val="F1E8FE"/>
          </a:solidFill>
          <a:ln w="12700">
            <a:solidFill>
              <a:srgbClr val="B9A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 b="1">
                <a:solidFill>
                  <a:srgbClr val="25467E"/>
                </a:solidFill>
                <a:latin typeface="Arial"/>
              </a:rPr>
              <a:t>ORGANIZATION</a:t>
            </a:r>
          </a:p>
          <a:p>
            <a:pPr algn="ctr"/>
            <a:r>
              <a:rPr sz="1500" b="1">
                <a:solidFill>
                  <a:srgbClr val="2A1B54"/>
                </a:solidFill>
                <a:latin typeface="Arial"/>
              </a:rPr>
              <a:t>NTRO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67912" y="4919471"/>
            <a:ext cx="3200400" cy="777240"/>
          </a:xfrm>
          <a:prstGeom prst="roundRect">
            <a:avLst/>
          </a:prstGeom>
          <a:solidFill>
            <a:srgbClr val="F1E8FE"/>
          </a:solidFill>
          <a:ln w="12700">
            <a:solidFill>
              <a:srgbClr val="B9A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 b="1">
                <a:solidFill>
                  <a:srgbClr val="25467E"/>
                </a:solidFill>
                <a:latin typeface="Arial"/>
              </a:rPr>
              <a:t>TEAM</a:t>
            </a:r>
          </a:p>
          <a:p>
            <a:pPr algn="ctr"/>
            <a:r>
              <a:rPr sz="1500" b="1">
                <a:solidFill>
                  <a:srgbClr val="2A1B54"/>
                </a:solidFill>
                <a:latin typeface="Arial"/>
              </a:rPr>
              <a:t>Nexus2.O  •  164739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2920" y="5870448"/>
            <a:ext cx="5623560" cy="0"/>
          </a:xfrm>
          <a:prstGeom prst="line">
            <a:avLst/>
          </a:prstGeom>
          <a:ln w="15875">
            <a:solidFill>
              <a:srgbClr val="422F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02920" y="598932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467E"/>
                </a:solidFill>
                <a:latin typeface="Arial"/>
              </a:rPr>
              <a:t>FROM FRAGMENTED CLUES TO EXPLAINABLE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Oval 15362"/>
          <p:cNvSpPr/>
          <p:nvPr/>
        </p:nvSpPr>
        <p:spPr>
          <a:xfrm>
            <a:off x="-1188720" y="-1188720"/>
            <a:ext cx="2377440" cy="237744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Rectangle 15363"/>
          <p:cNvSpPr/>
          <p:nvPr/>
        </p:nvSpPr>
        <p:spPr>
          <a:xfrm>
            <a:off x="1417320" y="201168"/>
            <a:ext cx="5120640" cy="457200"/>
          </a:xfrm>
          <a:prstGeom prst="rect">
            <a:avLst/>
          </a:prstGeom>
          <a:solidFill>
            <a:srgbClr val="6E5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SMART INDIA HACKATHON 2026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457200" y="777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A1B54"/>
                </a:solidFill>
                <a:latin typeface="Georgia"/>
              </a:rPr>
              <a:t>The Problem → Our Solution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5467E"/>
                </a:solidFill>
                <a:latin typeface="Arial"/>
              </a:rPr>
              <a:t>Dark-web investigations are fragmented across identities, platforms, infrastructure and linguistic traces.</a:t>
            </a:r>
          </a:p>
        </p:txBody>
      </p:sp>
      <p:sp>
        <p:nvSpPr>
          <p:cNvPr id="15367" name="Oval 15366"/>
          <p:cNvSpPr/>
          <p:nvPr/>
        </p:nvSpPr>
        <p:spPr>
          <a:xfrm>
            <a:off x="11368735" y="6035040"/>
            <a:ext cx="1645920" cy="164592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Rounded Rectangle 15367"/>
          <p:cNvSpPr/>
          <p:nvPr/>
        </p:nvSpPr>
        <p:spPr>
          <a:xfrm>
            <a:off x="457200" y="1828800"/>
            <a:ext cx="3364992" cy="384048"/>
          </a:xfrm>
          <a:prstGeom prst="roundRect">
            <a:avLst/>
          </a:prstGeom>
          <a:solidFill>
            <a:srgbClr val="254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Fragmented Clues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57200" y="2212848"/>
            <a:ext cx="3364992" cy="2862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370" name="TextBox 15369"/>
          <p:cNvSpPr txBox="1"/>
          <p:nvPr/>
        </p:nvSpPr>
        <p:spPr>
          <a:xfrm>
            <a:off x="640080" y="2423160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5467E"/>
                </a:solidFill>
                <a:latin typeface="Segoe UI Emoji"/>
              </a:rPr>
              <a:t>👤  </a:t>
            </a:r>
            <a:r>
              <a:rPr sz="1200">
                <a:solidFill>
                  <a:srgbClr val="222833"/>
                </a:solidFill>
                <a:latin typeface="Arial"/>
              </a:rPr>
              <a:t>Pseudonyms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640080" y="2953512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5467E"/>
                </a:solidFill>
                <a:latin typeface="Segoe UI Emoji"/>
              </a:rPr>
              <a:t>📈  </a:t>
            </a:r>
            <a:r>
              <a:rPr sz="1200">
                <a:solidFill>
                  <a:srgbClr val="222833"/>
                </a:solidFill>
                <a:latin typeface="Arial"/>
              </a:rPr>
              <a:t>Forums &amp; Markets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640080" y="3483864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5467E"/>
                </a:solidFill>
                <a:latin typeface="Segoe UI Emoji"/>
              </a:rPr>
              <a:t>🖥  </a:t>
            </a:r>
            <a:r>
              <a:rPr sz="1200">
                <a:solidFill>
                  <a:srgbClr val="222833"/>
                </a:solidFill>
                <a:latin typeface="Arial"/>
              </a:rPr>
              <a:t>Infrastructure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640080" y="4014216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5467E"/>
                </a:solidFill>
                <a:latin typeface="Segoe UI Emoji"/>
              </a:rPr>
              <a:t>🔐  </a:t>
            </a:r>
            <a:r>
              <a:rPr sz="1200">
                <a:solidFill>
                  <a:srgbClr val="222833"/>
                </a:solidFill>
                <a:latin typeface="Arial"/>
              </a:rPr>
              <a:t>Wallets &amp; PGP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640080" y="4544568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5467E"/>
                </a:solidFill>
                <a:latin typeface="Segoe UI Emoji"/>
              </a:rPr>
              <a:t>🔗  </a:t>
            </a:r>
            <a:r>
              <a:rPr sz="1200">
                <a:solidFill>
                  <a:srgbClr val="222833"/>
                </a:solidFill>
                <a:latin typeface="Arial"/>
              </a:rPr>
              <a:t>Linguistic Traces</a:t>
            </a:r>
          </a:p>
        </p:txBody>
      </p:sp>
      <p:sp>
        <p:nvSpPr>
          <p:cNvPr id="15375" name="Right Arrow 15374"/>
          <p:cNvSpPr/>
          <p:nvPr/>
        </p:nvSpPr>
        <p:spPr>
          <a:xfrm>
            <a:off x="3895344" y="3314700"/>
            <a:ext cx="457200" cy="274320"/>
          </a:xfrm>
          <a:prstGeom prst="rightArrow">
            <a:avLst/>
          </a:prstGeom>
          <a:solidFill>
            <a:srgbClr val="254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TextBox 15375"/>
          <p:cNvSpPr txBox="1"/>
          <p:nvPr/>
        </p:nvSpPr>
        <p:spPr>
          <a:xfrm>
            <a:off x="4507992" y="1783080"/>
            <a:ext cx="31729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422F6C"/>
                </a:solidFill>
                <a:latin typeface="Georgia"/>
              </a:rPr>
              <a:t>ARGUS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4507992" y="2212848"/>
            <a:ext cx="3172968" cy="777240"/>
          </a:xfrm>
          <a:prstGeom prst="roundRect">
            <a:avLst/>
          </a:prstGeom>
          <a:solidFill>
            <a:srgbClr val="F1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378" name="Oval 15377"/>
          <p:cNvSpPr/>
          <p:nvPr/>
        </p:nvSpPr>
        <p:spPr>
          <a:xfrm>
            <a:off x="4617720" y="2391156"/>
            <a:ext cx="420624" cy="420624"/>
          </a:xfrm>
          <a:prstGeom prst="ellipse">
            <a:avLst/>
          </a:prstGeom>
          <a:solidFill>
            <a:srgbClr val="5B3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5129784" y="2267712"/>
            <a:ext cx="2441448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2A1B54"/>
                </a:solidFill>
                <a:latin typeface="Arial"/>
              </a:rPr>
              <a:t>Infrastructure</a:t>
            </a:r>
          </a:p>
          <a:p>
            <a:r>
              <a:rPr sz="1250" b="1">
                <a:solidFill>
                  <a:srgbClr val="2A1B54"/>
                </a:solidFill>
                <a:latin typeface="Arial"/>
              </a:rPr>
              <a:t>De-anonymization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4507992" y="3127248"/>
            <a:ext cx="3172968" cy="777240"/>
          </a:xfrm>
          <a:prstGeom prst="roundRect">
            <a:avLst/>
          </a:prstGeom>
          <a:solidFill>
            <a:srgbClr val="DA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381" name="Oval 15380"/>
          <p:cNvSpPr/>
          <p:nvPr/>
        </p:nvSpPr>
        <p:spPr>
          <a:xfrm>
            <a:off x="4617720" y="3305556"/>
            <a:ext cx="420624" cy="420624"/>
          </a:xfrm>
          <a:prstGeom prst="ellipse">
            <a:avLst/>
          </a:prstGeom>
          <a:solidFill>
            <a:srgbClr val="1F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5129784" y="3182112"/>
            <a:ext cx="2441448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2A1B54"/>
                </a:solidFill>
                <a:latin typeface="Arial"/>
              </a:rPr>
              <a:t>Cross-Platform</a:t>
            </a:r>
          </a:p>
          <a:p>
            <a:r>
              <a:rPr sz="1250" b="1">
                <a:solidFill>
                  <a:srgbClr val="2A1B54"/>
                </a:solidFill>
                <a:latin typeface="Arial"/>
              </a:rPr>
              <a:t>Actor Correlation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4507992" y="4041648"/>
            <a:ext cx="3172968" cy="777240"/>
          </a:xfrm>
          <a:prstGeom prst="roundRect">
            <a:avLst/>
          </a:prstGeom>
          <a:solidFill>
            <a:srgbClr val="DA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384" name="Oval 15383"/>
          <p:cNvSpPr/>
          <p:nvPr/>
        </p:nvSpPr>
        <p:spPr>
          <a:xfrm>
            <a:off x="4617720" y="4219956"/>
            <a:ext cx="420624" cy="420624"/>
          </a:xfrm>
          <a:prstGeom prst="ellipse">
            <a:avLst/>
          </a:prstGeom>
          <a:solidFill>
            <a:srgbClr val="1E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5129784" y="4096512"/>
            <a:ext cx="2441448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2A1B54"/>
                </a:solidFill>
                <a:latin typeface="Arial"/>
              </a:rPr>
              <a:t>AI Persona</a:t>
            </a:r>
          </a:p>
          <a:p>
            <a:r>
              <a:rPr sz="1250" b="1">
                <a:solidFill>
                  <a:srgbClr val="2A1B54"/>
                </a:solidFill>
                <a:latin typeface="Arial"/>
              </a:rPr>
              <a:t>Attribution</a:t>
            </a:r>
          </a:p>
        </p:txBody>
      </p:sp>
      <p:sp>
        <p:nvSpPr>
          <p:cNvPr id="15386" name="Right Arrow 15385"/>
          <p:cNvSpPr/>
          <p:nvPr/>
        </p:nvSpPr>
        <p:spPr>
          <a:xfrm>
            <a:off x="7754112" y="3314700"/>
            <a:ext cx="457200" cy="274320"/>
          </a:xfrm>
          <a:prstGeom prst="rightArrow">
            <a:avLst/>
          </a:prstGeom>
          <a:solidFill>
            <a:srgbClr val="254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7" name="Rounded Rectangle 15386"/>
          <p:cNvSpPr/>
          <p:nvPr/>
        </p:nvSpPr>
        <p:spPr>
          <a:xfrm>
            <a:off x="8366760" y="1828800"/>
            <a:ext cx="3364992" cy="384048"/>
          </a:xfrm>
          <a:prstGeom prst="roundRect">
            <a:avLst/>
          </a:prstGeom>
          <a:solidFill>
            <a:srgbClr val="254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Unified Intelligence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8366760" y="2212848"/>
            <a:ext cx="3364992" cy="2862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pic>
        <p:nvPicPr>
          <p:cNvPr id="15389" name="Picture 15388" descr="dashboard_crop_ne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359152"/>
            <a:ext cx="3182112" cy="580861"/>
          </a:xfrm>
          <a:prstGeom prst="rect">
            <a:avLst/>
          </a:prstGeom>
          <a:ln w="9525">
            <a:solidFill>
              <a:srgbClr val="8A93A3"/>
            </a:solidFill>
          </a:ln>
        </p:spPr>
      </p:pic>
      <p:sp>
        <p:nvSpPr>
          <p:cNvPr id="15390" name="TextBox 15389"/>
          <p:cNvSpPr txBox="1"/>
          <p:nvPr/>
        </p:nvSpPr>
        <p:spPr>
          <a:xfrm>
            <a:off x="8549640" y="3104605"/>
            <a:ext cx="2999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5467E"/>
                </a:solidFill>
                <a:latin typeface="Segoe UI Emoji"/>
              </a:rPr>
              <a:t>🕸  </a:t>
            </a:r>
            <a:r>
              <a:rPr sz="1100">
                <a:solidFill>
                  <a:srgbClr val="222833"/>
                </a:solidFill>
                <a:latin typeface="Arial"/>
              </a:rPr>
              <a:t>Actor Graph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8549640" y="3415501"/>
            <a:ext cx="2999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5467E"/>
                </a:solidFill>
                <a:latin typeface="Segoe UI Emoji"/>
              </a:rPr>
              <a:t>🔗  </a:t>
            </a:r>
            <a:r>
              <a:rPr sz="1100">
                <a:solidFill>
                  <a:srgbClr val="222833"/>
                </a:solidFill>
                <a:latin typeface="Arial"/>
              </a:rPr>
              <a:t>Evidence Chain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8549640" y="3726397"/>
            <a:ext cx="2999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5467E"/>
                </a:solidFill>
                <a:latin typeface="Segoe UI Emoji"/>
              </a:rPr>
              <a:t>📊  </a:t>
            </a:r>
            <a:r>
              <a:rPr sz="1100">
                <a:solidFill>
                  <a:srgbClr val="222833"/>
                </a:solidFill>
                <a:latin typeface="Arial"/>
              </a:rPr>
              <a:t>Confidence Score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8549640" y="4037293"/>
            <a:ext cx="2999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5467E"/>
                </a:solidFill>
                <a:latin typeface="Segoe UI Emoji"/>
              </a:rPr>
              <a:t>📋  </a:t>
            </a:r>
            <a:r>
              <a:rPr sz="1100">
                <a:solidFill>
                  <a:srgbClr val="222833"/>
                </a:solidFill>
                <a:latin typeface="Arial"/>
              </a:rPr>
              <a:t>Explainable Attribution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365760" y="5303520"/>
            <a:ext cx="11457432" cy="685800"/>
          </a:xfrm>
          <a:prstGeom prst="roundRect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395" name="Rounded Rectangle 15394"/>
          <p:cNvSpPr/>
          <p:nvPr/>
        </p:nvSpPr>
        <p:spPr>
          <a:xfrm>
            <a:off x="457200" y="5394960"/>
            <a:ext cx="2167128" cy="502920"/>
          </a:xfrm>
          <a:prstGeom prst="roundRect">
            <a:avLst/>
          </a:prstGeom>
          <a:solidFill>
            <a:srgbClr val="F1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422F6C"/>
                </a:solidFill>
                <a:latin typeface="Arial"/>
              </a:rPr>
              <a:t>COLLECT</a:t>
            </a:r>
          </a:p>
        </p:txBody>
      </p:sp>
      <p:sp>
        <p:nvSpPr>
          <p:cNvPr id="15396" name="Right Arrow 15395"/>
          <p:cNvSpPr/>
          <p:nvPr/>
        </p:nvSpPr>
        <p:spPr>
          <a:xfrm>
            <a:off x="2642616" y="5573268"/>
            <a:ext cx="73152" cy="146304"/>
          </a:xfrm>
          <a:prstGeom prst="right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7" name="Rounded Rectangle 15396"/>
          <p:cNvSpPr/>
          <p:nvPr/>
        </p:nvSpPr>
        <p:spPr>
          <a:xfrm>
            <a:off x="2734056" y="5394960"/>
            <a:ext cx="2167128" cy="502920"/>
          </a:xfrm>
          <a:prstGeom prst="roundRect">
            <a:avLst/>
          </a:prstGeom>
          <a:solidFill>
            <a:srgbClr val="DA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422F6C"/>
                </a:solidFill>
                <a:latin typeface="Arial"/>
              </a:rPr>
              <a:t>CORRELATE</a:t>
            </a:r>
          </a:p>
        </p:txBody>
      </p:sp>
      <p:sp>
        <p:nvSpPr>
          <p:cNvPr id="15398" name="Right Arrow 15397"/>
          <p:cNvSpPr/>
          <p:nvPr/>
        </p:nvSpPr>
        <p:spPr>
          <a:xfrm>
            <a:off x="4919472" y="5573268"/>
            <a:ext cx="73152" cy="146304"/>
          </a:xfrm>
          <a:prstGeom prst="right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9" name="Rounded Rectangle 15398"/>
          <p:cNvSpPr/>
          <p:nvPr/>
        </p:nvSpPr>
        <p:spPr>
          <a:xfrm>
            <a:off x="5010912" y="5394960"/>
            <a:ext cx="2167128" cy="502920"/>
          </a:xfrm>
          <a:prstGeom prst="roundRect">
            <a:avLst/>
          </a:prstGeom>
          <a:solidFill>
            <a:srgbClr val="F1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422F6C"/>
                </a:solidFill>
                <a:latin typeface="Arial"/>
              </a:rPr>
              <a:t>ANALYZE</a:t>
            </a:r>
          </a:p>
        </p:txBody>
      </p:sp>
      <p:sp>
        <p:nvSpPr>
          <p:cNvPr id="15400" name="Right Arrow 15399"/>
          <p:cNvSpPr/>
          <p:nvPr/>
        </p:nvSpPr>
        <p:spPr>
          <a:xfrm>
            <a:off x="7196328" y="5573268"/>
            <a:ext cx="73152" cy="146304"/>
          </a:xfrm>
          <a:prstGeom prst="right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1" name="Rounded Rectangle 15400"/>
          <p:cNvSpPr/>
          <p:nvPr/>
        </p:nvSpPr>
        <p:spPr>
          <a:xfrm>
            <a:off x="7287768" y="5394960"/>
            <a:ext cx="2167128" cy="502920"/>
          </a:xfrm>
          <a:prstGeom prst="roundRect">
            <a:avLst/>
          </a:prstGeom>
          <a:solidFill>
            <a:srgbClr val="DA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422F6C"/>
                </a:solidFill>
                <a:latin typeface="Arial"/>
              </a:rPr>
              <a:t>ATTRIBUTE</a:t>
            </a:r>
          </a:p>
        </p:txBody>
      </p:sp>
      <p:sp>
        <p:nvSpPr>
          <p:cNvPr id="15402" name="Right Arrow 15401"/>
          <p:cNvSpPr/>
          <p:nvPr/>
        </p:nvSpPr>
        <p:spPr>
          <a:xfrm>
            <a:off x="9473184" y="5573268"/>
            <a:ext cx="73152" cy="146304"/>
          </a:xfrm>
          <a:prstGeom prst="right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3" name="Rounded Rectangle 15402"/>
          <p:cNvSpPr/>
          <p:nvPr/>
        </p:nvSpPr>
        <p:spPr>
          <a:xfrm>
            <a:off x="9564624" y="5394960"/>
            <a:ext cx="2167128" cy="502920"/>
          </a:xfrm>
          <a:prstGeom prst="roundRect">
            <a:avLst/>
          </a:prstGeom>
          <a:solidFill>
            <a:srgbClr val="F1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422F6C"/>
                </a:solidFill>
                <a:latin typeface="Arial"/>
              </a:rPr>
              <a:t>EXPLAIN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Oval 17410"/>
          <p:cNvSpPr/>
          <p:nvPr/>
        </p:nvSpPr>
        <p:spPr>
          <a:xfrm>
            <a:off x="-1188720" y="-1188720"/>
            <a:ext cx="2377440" cy="237744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1417320" y="201168"/>
            <a:ext cx="5120640" cy="457200"/>
          </a:xfrm>
          <a:prstGeom prst="rect">
            <a:avLst/>
          </a:prstGeom>
          <a:solidFill>
            <a:srgbClr val="6E5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SMART INDIA HACKATHON 2026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777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A1B54"/>
                </a:solidFill>
                <a:latin typeface="Georgia"/>
              </a:rPr>
              <a:t>Technical Approach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5467E"/>
                </a:solidFill>
                <a:latin typeface="Arial"/>
              </a:rPr>
              <a:t>From raw intelligence to explainable, evidence-backed attribution.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11368735" y="6035040"/>
            <a:ext cx="1645920" cy="164592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457200" y="1691640"/>
            <a:ext cx="1298448" cy="868680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🗄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Data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Sources</a:t>
            </a:r>
          </a:p>
        </p:txBody>
      </p:sp>
      <p:sp>
        <p:nvSpPr>
          <p:cNvPr id="17417" name="Right Arrow 17416"/>
          <p:cNvSpPr/>
          <p:nvPr/>
        </p:nvSpPr>
        <p:spPr>
          <a:xfrm>
            <a:off x="1764792" y="2052828"/>
            <a:ext cx="109728" cy="146304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1883664" y="1691640"/>
            <a:ext cx="1298448" cy="868680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⚙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Ingestion</a:t>
            </a:r>
          </a:p>
        </p:txBody>
      </p:sp>
      <p:sp>
        <p:nvSpPr>
          <p:cNvPr id="17419" name="Right Arrow 17418"/>
          <p:cNvSpPr/>
          <p:nvPr/>
        </p:nvSpPr>
        <p:spPr>
          <a:xfrm>
            <a:off x="3191256" y="2052828"/>
            <a:ext cx="109728" cy="146304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3310128" y="1691640"/>
            <a:ext cx="1298448" cy="868680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📄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Normalization</a:t>
            </a:r>
          </a:p>
        </p:txBody>
      </p:sp>
      <p:sp>
        <p:nvSpPr>
          <p:cNvPr id="17421" name="Right Arrow 17420"/>
          <p:cNvSpPr/>
          <p:nvPr/>
        </p:nvSpPr>
        <p:spPr>
          <a:xfrm>
            <a:off x="4617720" y="2052828"/>
            <a:ext cx="109728" cy="146304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4736592" y="1691640"/>
            <a:ext cx="1298448" cy="868680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🧠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Multi-Modal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Analysis</a:t>
            </a:r>
          </a:p>
        </p:txBody>
      </p:sp>
      <p:sp>
        <p:nvSpPr>
          <p:cNvPr id="17423" name="Right Arrow 17422"/>
          <p:cNvSpPr/>
          <p:nvPr/>
        </p:nvSpPr>
        <p:spPr>
          <a:xfrm>
            <a:off x="6044184" y="2052828"/>
            <a:ext cx="109728" cy="146304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6163056" y="1691640"/>
            <a:ext cx="1298448" cy="868680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🔗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Entity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Resolution</a:t>
            </a:r>
          </a:p>
        </p:txBody>
      </p:sp>
      <p:sp>
        <p:nvSpPr>
          <p:cNvPr id="17425" name="Right Arrow 17424"/>
          <p:cNvSpPr/>
          <p:nvPr/>
        </p:nvSpPr>
        <p:spPr>
          <a:xfrm>
            <a:off x="7470648" y="2052828"/>
            <a:ext cx="109728" cy="146304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7589520" y="1691640"/>
            <a:ext cx="1298448" cy="868680"/>
          </a:xfrm>
          <a:prstGeom prst="roundRect">
            <a:avLst/>
          </a:prstGeom>
          <a:solidFill>
            <a:srgbClr val="DEFAE9"/>
          </a:solidFill>
          <a:ln w="12700">
            <a:solidFill>
              <a:srgbClr val="7CC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🕸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Neo4j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Evidence Graph</a:t>
            </a:r>
          </a:p>
        </p:txBody>
      </p:sp>
      <p:sp>
        <p:nvSpPr>
          <p:cNvPr id="17427" name="Right Arrow 17426"/>
          <p:cNvSpPr/>
          <p:nvPr/>
        </p:nvSpPr>
        <p:spPr>
          <a:xfrm>
            <a:off x="8897112" y="2052828"/>
            <a:ext cx="109728" cy="146304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9015984" y="1691640"/>
            <a:ext cx="1298448" cy="868680"/>
          </a:xfrm>
          <a:prstGeom prst="roundRect">
            <a:avLst/>
          </a:prstGeom>
          <a:solidFill>
            <a:srgbClr val="FDEED5"/>
          </a:solidFill>
          <a:ln w="12700">
            <a:solidFill>
              <a:srgbClr val="E4B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📈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Attribution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Engine</a:t>
            </a:r>
          </a:p>
        </p:txBody>
      </p:sp>
      <p:sp>
        <p:nvSpPr>
          <p:cNvPr id="17429" name="Right Arrow 17428"/>
          <p:cNvSpPr/>
          <p:nvPr/>
        </p:nvSpPr>
        <p:spPr>
          <a:xfrm>
            <a:off x="10323576" y="2052828"/>
            <a:ext cx="109728" cy="146304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10442448" y="1691640"/>
            <a:ext cx="1298448" cy="868680"/>
          </a:xfrm>
          <a:prstGeom prst="roundRect">
            <a:avLst/>
          </a:prstGeom>
          <a:solidFill>
            <a:srgbClr val="F1E8FE"/>
          </a:solidFill>
          <a:ln w="12700">
            <a:solidFill>
              <a:srgbClr val="B9A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🖥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ARGUS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Dashboard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57200" y="2834640"/>
            <a:ext cx="2697480" cy="713232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📡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Infrastructure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Analysis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319272" y="2834640"/>
            <a:ext cx="2697480" cy="713232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📇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Identity / IOC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Extraction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6181344" y="2834640"/>
            <a:ext cx="2697480" cy="713232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✍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Stylometry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(Burrows’ Delta)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9043416" y="2834640"/>
            <a:ext cx="2697480" cy="713232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📉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Behavioral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Analysis</a:t>
            </a:r>
          </a:p>
        </p:txBody>
      </p:sp>
      <p:sp>
        <p:nvSpPr>
          <p:cNvPr id="17435" name="Down Arrow 17434"/>
          <p:cNvSpPr/>
          <p:nvPr/>
        </p:nvSpPr>
        <p:spPr>
          <a:xfrm>
            <a:off x="5294376" y="2578608"/>
            <a:ext cx="182880" cy="201168"/>
          </a:xfrm>
          <a:prstGeom prst="downArrow">
            <a:avLst/>
          </a:prstGeom>
          <a:solidFill>
            <a:srgbClr val="254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457200" y="386791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1B54"/>
                </a:solidFill>
                <a:latin typeface="Arial"/>
              </a:rPr>
              <a:t>Key Metrics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57200" y="4197096"/>
            <a:ext cx="2723083" cy="777240"/>
          </a:xfrm>
          <a:prstGeom prst="roundRect">
            <a:avLst/>
          </a:prstGeom>
          <a:solidFill>
            <a:srgbClr val="F1E8FE"/>
          </a:solidFill>
          <a:ln w="12700">
            <a:solidFill>
              <a:srgbClr val="B9A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400" b="1">
                <a:solidFill>
                  <a:srgbClr val="5B3A9E"/>
                </a:solidFill>
                <a:latin typeface="Arial"/>
              </a:rPr>
              <a:t>5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Infrastructure
signals checked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3308299" y="4197096"/>
            <a:ext cx="2723083" cy="777240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400" b="1">
                <a:solidFill>
                  <a:srgbClr val="1F5C9E"/>
                </a:solidFill>
                <a:latin typeface="Arial"/>
              </a:rPr>
              <a:t>65/20/15%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Infrastructure /
Identity / Behavior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159398" y="4197096"/>
            <a:ext cx="2723083" cy="777240"/>
          </a:xfrm>
          <a:prstGeom prst="roundRect">
            <a:avLst/>
          </a:prstGeom>
          <a:solidFill>
            <a:srgbClr val="DEFAE9"/>
          </a:solidFill>
          <a:ln w="12700">
            <a:solidFill>
              <a:srgbClr val="7CC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400" b="1">
                <a:solidFill>
                  <a:srgbClr val="1E8A4A"/>
                </a:solidFill>
                <a:latin typeface="Arial"/>
              </a:rPr>
              <a:t>6 HRS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Autonomous
re-collection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9010497" y="4197096"/>
            <a:ext cx="2723083" cy="777240"/>
          </a:xfrm>
          <a:prstGeom prst="roundRect">
            <a:avLst/>
          </a:prstGeom>
          <a:solidFill>
            <a:srgbClr val="FDEED5"/>
          </a:solidFill>
          <a:ln w="12700">
            <a:solidFill>
              <a:srgbClr val="E4B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400" b="1">
                <a:solidFill>
                  <a:srgbClr val="C26A14"/>
                </a:solidFill>
                <a:latin typeface="Arial"/>
              </a:rPr>
              <a:t>3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Export formats
CSV / JSON / PDF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457200" y="520293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1B54"/>
                </a:solidFill>
                <a:latin typeface="Arial"/>
              </a:rPr>
              <a:t>Technology Stack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57200" y="5532120"/>
            <a:ext cx="11274552" cy="384048"/>
          </a:xfrm>
          <a:prstGeom prst="roundRect">
            <a:avLst/>
          </a:prstGeom>
          <a:solidFill>
            <a:srgbClr val="DA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25467E"/>
                </a:solidFill>
                <a:latin typeface="Arial"/>
              </a:rPr>
              <a:t>React + TS  |  FastAPI  |  Python  |  PostgreSQL  |  Neo4j  |  Redis  |  Celery  |  MISP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Oval 17410"/>
          <p:cNvSpPr/>
          <p:nvPr/>
        </p:nvSpPr>
        <p:spPr>
          <a:xfrm>
            <a:off x="-1188720" y="-1188720"/>
            <a:ext cx="2377440" cy="237744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1417320" y="201168"/>
            <a:ext cx="5120640" cy="457200"/>
          </a:xfrm>
          <a:prstGeom prst="rect">
            <a:avLst/>
          </a:prstGeom>
          <a:solidFill>
            <a:srgbClr val="6E5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SMART INDIA HACKATHON 2026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777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A1B54"/>
                </a:solidFill>
                <a:latin typeface="Georgia"/>
              </a:rPr>
              <a:t>Feasibility and Viability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5467E"/>
                </a:solidFill>
                <a:latin typeface="Arial"/>
              </a:rPr>
              <a:t>Real-world challenges, practical solutions, working prototype.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11368735" y="6035040"/>
            <a:ext cx="1645920" cy="164592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457200" y="1600200"/>
            <a:ext cx="3794760" cy="347472"/>
          </a:xfrm>
          <a:prstGeom prst="roundRect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Challenge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306824" y="1600200"/>
            <a:ext cx="3794760" cy="347472"/>
          </a:xfrm>
          <a:prstGeom prst="roundRect">
            <a:avLst/>
          </a:prstGeom>
          <a:solidFill>
            <a:srgbClr val="2E7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Our Engineering Response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30352" y="1975104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5467E"/>
                </a:solidFill>
                <a:latin typeface="Segoe UI Emoji"/>
              </a:rPr>
              <a:t>📡  </a:t>
            </a:r>
            <a:r>
              <a:rPr sz="950">
                <a:solidFill>
                  <a:srgbClr val="222833"/>
                </a:solidFill>
                <a:latin typeface="Arial"/>
              </a:rPr>
              <a:t>Restricted / changing
dark-web sources</a:t>
            </a:r>
          </a:p>
        </p:txBody>
      </p:sp>
      <p:sp>
        <p:nvSpPr>
          <p:cNvPr id="17419" name="Right Arrow 17418"/>
          <p:cNvSpPr/>
          <p:nvPr/>
        </p:nvSpPr>
        <p:spPr>
          <a:xfrm>
            <a:off x="4233672" y="2121408"/>
            <a:ext cx="128016" cy="164592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4379976" y="1975104"/>
            <a:ext cx="364845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22833"/>
                </a:solidFill>
                <a:latin typeface="Arial"/>
              </a:rPr>
              <a:t>Authorized intelligence feeds + public research datasets + controlled datasets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457200" y="2459736"/>
            <a:ext cx="7644384" cy="0"/>
          </a:xfrm>
          <a:prstGeom prst="line">
            <a:avLst/>
          </a:prstGeom>
          <a:ln w="9525">
            <a:solidFill>
              <a:srgbClr val="E3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TextBox 17421"/>
          <p:cNvSpPr txBox="1"/>
          <p:nvPr/>
        </p:nvSpPr>
        <p:spPr>
          <a:xfrm>
            <a:off x="530352" y="2487168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5467E"/>
                </a:solidFill>
                <a:latin typeface="Segoe UI Emoji"/>
              </a:rPr>
              <a:t>🔍  </a:t>
            </a:r>
            <a:r>
              <a:rPr sz="950">
                <a:solidFill>
                  <a:srgbClr val="222833"/>
                </a:solidFill>
                <a:latin typeface="Arial"/>
              </a:rPr>
              <a:t>Sparse or incomplete
evidence</a:t>
            </a:r>
          </a:p>
        </p:txBody>
      </p:sp>
      <p:sp>
        <p:nvSpPr>
          <p:cNvPr id="17423" name="Right Arrow 17422"/>
          <p:cNvSpPr/>
          <p:nvPr/>
        </p:nvSpPr>
        <p:spPr>
          <a:xfrm>
            <a:off x="4233672" y="2633472"/>
            <a:ext cx="128016" cy="164592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4379976" y="2487168"/>
            <a:ext cx="364845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22833"/>
                </a:solidFill>
                <a:latin typeface="Arial"/>
              </a:rPr>
              <a:t>Multi-signal attribution across infrastructure, identity, and behaviour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457200" y="2971800"/>
            <a:ext cx="7644384" cy="0"/>
          </a:xfrm>
          <a:prstGeom prst="line">
            <a:avLst/>
          </a:prstGeom>
          <a:ln w="9525">
            <a:solidFill>
              <a:srgbClr val="E3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TextBox 17425"/>
          <p:cNvSpPr txBox="1"/>
          <p:nvPr/>
        </p:nvSpPr>
        <p:spPr>
          <a:xfrm>
            <a:off x="530352" y="2999232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5467E"/>
                </a:solidFill>
                <a:latin typeface="Segoe UI Emoji"/>
              </a:rPr>
              <a:t>❌  </a:t>
            </a:r>
            <a:r>
              <a:rPr sz="950">
                <a:solidFill>
                  <a:srgbClr val="222833"/>
                </a:solidFill>
                <a:latin typeface="Arial"/>
              </a:rPr>
              <a:t>False attribution</a:t>
            </a:r>
          </a:p>
        </p:txBody>
      </p:sp>
      <p:sp>
        <p:nvSpPr>
          <p:cNvPr id="17427" name="Right Arrow 17426"/>
          <p:cNvSpPr/>
          <p:nvPr/>
        </p:nvSpPr>
        <p:spPr>
          <a:xfrm>
            <a:off x="4233672" y="3145536"/>
            <a:ext cx="128016" cy="164592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4379976" y="2999232"/>
            <a:ext cx="364845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22833"/>
                </a:solidFill>
                <a:latin typeface="Arial"/>
              </a:rPr>
              <a:t>Confidence scoring + evidence provenance + explainability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457200" y="3483864"/>
            <a:ext cx="7644384" cy="0"/>
          </a:xfrm>
          <a:prstGeom prst="line">
            <a:avLst/>
          </a:prstGeom>
          <a:ln w="9525">
            <a:solidFill>
              <a:srgbClr val="E3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TextBox 17429"/>
          <p:cNvSpPr txBox="1"/>
          <p:nvPr/>
        </p:nvSpPr>
        <p:spPr>
          <a:xfrm>
            <a:off x="530352" y="3511296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5467E"/>
                </a:solidFill>
                <a:latin typeface="Segoe UI Emoji"/>
              </a:rPr>
              <a:t>🔄  </a:t>
            </a:r>
            <a:r>
              <a:rPr sz="950">
                <a:solidFill>
                  <a:srgbClr val="222833"/>
                </a:solidFill>
                <a:latin typeface="Arial"/>
              </a:rPr>
              <a:t>Dynamic / migrated
personas</a:t>
            </a:r>
          </a:p>
        </p:txBody>
      </p:sp>
      <p:sp>
        <p:nvSpPr>
          <p:cNvPr id="17431" name="Right Arrow 17430"/>
          <p:cNvSpPr/>
          <p:nvPr/>
        </p:nvSpPr>
        <p:spPr>
          <a:xfrm>
            <a:off x="4233672" y="3657600"/>
            <a:ext cx="128016" cy="164592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4379976" y="3511296"/>
            <a:ext cx="364845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22833"/>
                </a:solidFill>
                <a:latin typeface="Arial"/>
              </a:rPr>
              <a:t>Temporal analysis + incremental re-analysis every 6 hours</a:t>
            </a:r>
          </a:p>
        </p:txBody>
      </p:sp>
      <p:cxnSp>
        <p:nvCxnSpPr>
          <p:cNvPr id="17433" name="Connector 17432"/>
          <p:cNvCxnSpPr/>
          <p:nvPr/>
        </p:nvCxnSpPr>
        <p:spPr>
          <a:xfrm>
            <a:off x="457200" y="3995928"/>
            <a:ext cx="7644384" cy="0"/>
          </a:xfrm>
          <a:prstGeom prst="line">
            <a:avLst/>
          </a:prstGeom>
          <a:ln w="9525">
            <a:solidFill>
              <a:srgbClr val="E3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4" name="TextBox 17433"/>
          <p:cNvSpPr txBox="1"/>
          <p:nvPr/>
        </p:nvSpPr>
        <p:spPr>
          <a:xfrm>
            <a:off x="530352" y="4023360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5467E"/>
                </a:solidFill>
                <a:latin typeface="Segoe UI Emoji"/>
              </a:rPr>
              <a:t>🔒  </a:t>
            </a:r>
            <a:r>
              <a:rPr sz="950">
                <a:solidFill>
                  <a:srgbClr val="222833"/>
                </a:solidFill>
                <a:latin typeface="Arial"/>
              </a:rPr>
              <a:t>Sensitive data</a:t>
            </a:r>
          </a:p>
        </p:txBody>
      </p:sp>
      <p:sp>
        <p:nvSpPr>
          <p:cNvPr id="17435" name="Right Arrow 17434"/>
          <p:cNvSpPr/>
          <p:nvPr/>
        </p:nvSpPr>
        <p:spPr>
          <a:xfrm>
            <a:off x="4233672" y="4169664"/>
            <a:ext cx="128016" cy="164592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4379976" y="4023360"/>
            <a:ext cx="364845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22833"/>
                </a:solidFill>
                <a:latin typeface="Arial"/>
              </a:rPr>
              <a:t>Data minimization + controlled, authorized sources only</a:t>
            </a:r>
          </a:p>
        </p:txBody>
      </p:sp>
      <p:cxnSp>
        <p:nvCxnSpPr>
          <p:cNvPr id="17437" name="Connector 17436"/>
          <p:cNvCxnSpPr/>
          <p:nvPr/>
        </p:nvCxnSpPr>
        <p:spPr>
          <a:xfrm>
            <a:off x="457200" y="4507992"/>
            <a:ext cx="7644384" cy="0"/>
          </a:xfrm>
          <a:prstGeom prst="line">
            <a:avLst/>
          </a:prstGeom>
          <a:ln w="9525">
            <a:solidFill>
              <a:srgbClr val="E3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Rounded Rectangle 17437"/>
          <p:cNvSpPr/>
          <p:nvPr/>
        </p:nvSpPr>
        <p:spPr>
          <a:xfrm>
            <a:off x="8238744" y="1600200"/>
            <a:ext cx="3495751" cy="347472"/>
          </a:xfrm>
          <a:prstGeom prst="roundRect">
            <a:avLst/>
          </a:prstGeom>
          <a:solidFill>
            <a:srgbClr val="E3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2A1B54"/>
                </a:solidFill>
                <a:latin typeface="Arial"/>
              </a:rPr>
              <a:t>Actor Profile (Evidence)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8238744" y="1947672"/>
            <a:ext cx="3495751" cy="1920240"/>
          </a:xfrm>
          <a:prstGeom prst="roundRect">
            <a:avLst/>
          </a:prstGeom>
          <a:solidFill>
            <a:srgbClr val="1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pic>
        <p:nvPicPr>
          <p:cNvPr id="17440" name="Picture 17439" descr="actor_profile_ne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8696" y="2153412"/>
            <a:ext cx="2895845" cy="1508760"/>
          </a:xfrm>
          <a:prstGeom prst="rect">
            <a:avLst/>
          </a:prstGeom>
        </p:spPr>
      </p:pic>
      <p:sp>
        <p:nvSpPr>
          <p:cNvPr id="17441" name="Rounded Rectangle 17440"/>
          <p:cNvSpPr/>
          <p:nvPr/>
        </p:nvSpPr>
        <p:spPr>
          <a:xfrm>
            <a:off x="457200" y="4645152"/>
            <a:ext cx="7644384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2A1B54"/>
                </a:solidFill>
                <a:latin typeface="Arial"/>
              </a:rPr>
              <a:t>Why ARGUS is Feasible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✅ Functional prototype — not a concept slide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✅ Working Neo4j relationship graph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✅ Stylometric analysis (Burrows’ Delta)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✅ MISP threat-intel integration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✅ CSV / JSON / PDF export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8238744" y="4005072"/>
            <a:ext cx="3495751" cy="2240280"/>
          </a:xfrm>
          <a:prstGeom prst="roundRect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WORKING PROTOTYPE</a:t>
            </a:r>
          </a:p>
          <a:p>
            <a:pPr algn="ctr"/>
            <a:r>
              <a:rPr sz="1000" b="1">
                <a:solidFill>
                  <a:srgbClr val="E6DCF7"/>
                </a:solidFill>
                <a:latin typeface="Arial"/>
              </a:rPr>
              <a:t>NOT JUST A CONCEPT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Oval 17410"/>
          <p:cNvSpPr/>
          <p:nvPr/>
        </p:nvSpPr>
        <p:spPr>
          <a:xfrm>
            <a:off x="-1188720" y="-1188720"/>
            <a:ext cx="2377440" cy="237744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1417320" y="201168"/>
            <a:ext cx="5120640" cy="457200"/>
          </a:xfrm>
          <a:prstGeom prst="rect">
            <a:avLst/>
          </a:prstGeom>
          <a:solidFill>
            <a:srgbClr val="6E5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SMART INDIA HACKATHON 2026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777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A1B54"/>
                </a:solidFill>
                <a:latin typeface="Georgia"/>
              </a:rPr>
              <a:t>Impact and Benefits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5467E"/>
                </a:solidFill>
                <a:latin typeface="Arial"/>
              </a:rPr>
              <a:t>Transforming dark-web intelligence into actionable insights.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11368735" y="6035040"/>
            <a:ext cx="1645920" cy="164592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457200" y="1691640"/>
            <a:ext cx="2153412" cy="777240"/>
          </a:xfrm>
          <a:prstGeom prst="roundRect">
            <a:avLst/>
          </a:prstGeom>
          <a:solidFill>
            <a:srgbClr val="E6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2A1B54"/>
                </a:solidFill>
                <a:latin typeface="Arial"/>
              </a:rPr>
              <a:t>Fragmented</a:t>
            </a:r>
          </a:p>
          <a:p>
            <a:pPr algn="ctr"/>
            <a:r>
              <a:rPr sz="1100" b="1">
                <a:solidFill>
                  <a:srgbClr val="2A1B54"/>
                </a:solidFill>
                <a:latin typeface="Arial"/>
              </a:rPr>
              <a:t>Intelligence +</a:t>
            </a:r>
          </a:p>
          <a:p>
            <a:pPr algn="ctr"/>
            <a:r>
              <a:rPr sz="1100" b="1">
                <a:solidFill>
                  <a:srgbClr val="2A1B54"/>
                </a:solidFill>
                <a:latin typeface="Arial"/>
              </a:rPr>
              <a:t>Manual Correlation</a:t>
            </a:r>
          </a:p>
        </p:txBody>
      </p:sp>
      <p:sp>
        <p:nvSpPr>
          <p:cNvPr id="17417" name="Right Arrow 17416"/>
          <p:cNvSpPr/>
          <p:nvPr/>
        </p:nvSpPr>
        <p:spPr>
          <a:xfrm>
            <a:off x="2619756" y="1997964"/>
            <a:ext cx="109728" cy="164592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2738628" y="1691640"/>
            <a:ext cx="2153412" cy="777240"/>
          </a:xfrm>
          <a:prstGeom prst="roundRect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ARGUS</a:t>
            </a:r>
          </a:p>
        </p:txBody>
      </p:sp>
      <p:sp>
        <p:nvSpPr>
          <p:cNvPr id="17419" name="Right Arrow 17418"/>
          <p:cNvSpPr/>
          <p:nvPr/>
        </p:nvSpPr>
        <p:spPr>
          <a:xfrm>
            <a:off x="4901184" y="1997964"/>
            <a:ext cx="109728" cy="164592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5020056" y="1691640"/>
            <a:ext cx="2153412" cy="777240"/>
          </a:xfrm>
          <a:prstGeom prst="roundRect">
            <a:avLst/>
          </a:prstGeom>
          <a:solidFill>
            <a:srgbClr val="DA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25467E"/>
                </a:solidFill>
                <a:latin typeface="Arial"/>
              </a:rPr>
              <a:t>Unified</a:t>
            </a:r>
          </a:p>
          <a:p>
            <a:pPr algn="ctr"/>
            <a:r>
              <a:rPr sz="1100" b="1">
                <a:solidFill>
                  <a:srgbClr val="25467E"/>
                </a:solidFill>
                <a:latin typeface="Arial"/>
              </a:rPr>
              <a:t>Evidence Graph</a:t>
            </a:r>
          </a:p>
        </p:txBody>
      </p:sp>
      <p:sp>
        <p:nvSpPr>
          <p:cNvPr id="17421" name="Right Arrow 17420"/>
          <p:cNvSpPr/>
          <p:nvPr/>
        </p:nvSpPr>
        <p:spPr>
          <a:xfrm>
            <a:off x="7182612" y="1997964"/>
            <a:ext cx="109728" cy="164592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7301484" y="1691640"/>
            <a:ext cx="2153412" cy="777240"/>
          </a:xfrm>
          <a:prstGeom prst="roundRect">
            <a:avLst/>
          </a:prstGeom>
          <a:solidFill>
            <a:srgbClr val="DEF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1E6B3A"/>
                </a:solidFill>
                <a:latin typeface="Arial"/>
              </a:rPr>
              <a:t>Explainable</a:t>
            </a:r>
          </a:p>
          <a:p>
            <a:pPr algn="ctr"/>
            <a:r>
              <a:rPr sz="1100" b="1">
                <a:solidFill>
                  <a:srgbClr val="1E6B3A"/>
                </a:solidFill>
                <a:latin typeface="Arial"/>
              </a:rPr>
              <a:t>Attribution</a:t>
            </a:r>
          </a:p>
        </p:txBody>
      </p:sp>
      <p:sp>
        <p:nvSpPr>
          <p:cNvPr id="17423" name="Right Arrow 17422"/>
          <p:cNvSpPr/>
          <p:nvPr/>
        </p:nvSpPr>
        <p:spPr>
          <a:xfrm>
            <a:off x="9464040" y="1997964"/>
            <a:ext cx="109728" cy="164592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9582912" y="1691640"/>
            <a:ext cx="2153412" cy="777240"/>
          </a:xfrm>
          <a:prstGeom prst="roundRect">
            <a:avLst/>
          </a:prstGeom>
          <a:solidFill>
            <a:srgbClr val="F1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5B3A9E"/>
                </a:solidFill>
                <a:latin typeface="Arial"/>
              </a:rPr>
              <a:t>Faster</a:t>
            </a:r>
          </a:p>
          <a:p>
            <a:pPr algn="ctr"/>
            <a:r>
              <a:rPr sz="1100" b="1">
                <a:solidFill>
                  <a:srgbClr val="5B3A9E"/>
                </a:solidFill>
                <a:latin typeface="Arial"/>
              </a:rPr>
              <a:t>Investigation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57200" y="2697480"/>
            <a:ext cx="273679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>
                <a:solidFill>
                  <a:srgbClr val="2A1B54"/>
                </a:solidFill>
                <a:latin typeface="Segoe UI Emoji"/>
              </a:rPr>
              <a:t>🛡</a:t>
            </a:r>
          </a:p>
          <a:p>
            <a:pPr algn="ctr"/>
            <a:r>
              <a:rPr sz="1200" b="1">
                <a:solidFill>
                  <a:srgbClr val="2A1B54"/>
                </a:solidFill>
                <a:latin typeface="Arial"/>
              </a:rPr>
              <a:t>LAW ENFORCEMENT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Actor attribution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Evidence discovery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Investigation timelines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303727" y="2697480"/>
            <a:ext cx="273679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>
                <a:solidFill>
                  <a:srgbClr val="2A1B54"/>
                </a:solidFill>
                <a:latin typeface="Segoe UI Emoji"/>
              </a:rPr>
              <a:t>🏛</a:t>
            </a:r>
          </a:p>
          <a:p>
            <a:pPr algn="ctr"/>
            <a:r>
              <a:rPr sz="1200" b="1">
                <a:solidFill>
                  <a:srgbClr val="2A1B54"/>
                </a:solidFill>
                <a:latin typeface="Arial"/>
              </a:rPr>
              <a:t>NATIONAL SECURITY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Threat ecosystem mapping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Infrastructure intelligence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Actor monitoring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150254" y="2697480"/>
            <a:ext cx="273679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C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>
                <a:solidFill>
                  <a:srgbClr val="2A1B54"/>
                </a:solidFill>
                <a:latin typeface="Segoe UI Emoji"/>
              </a:rPr>
              <a:t>👥</a:t>
            </a:r>
          </a:p>
          <a:p>
            <a:pPr algn="ctr"/>
            <a:r>
              <a:rPr sz="1200" b="1">
                <a:solidFill>
                  <a:srgbClr val="2A1B54"/>
                </a:solidFill>
                <a:latin typeface="Arial"/>
              </a:rPr>
              <a:t>CYBER THREAT INTEL TEAMS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Cross-platform correlation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IOC enrichment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Threat actor profiling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8996781" y="2697480"/>
            <a:ext cx="273679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A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>
                <a:solidFill>
                  <a:srgbClr val="2A1B54"/>
                </a:solidFill>
                <a:latin typeface="Segoe UI Emoji"/>
              </a:rPr>
              <a:t>👤</a:t>
            </a:r>
          </a:p>
          <a:p>
            <a:pPr algn="ctr"/>
            <a:r>
              <a:rPr sz="1200" b="1">
                <a:solidFill>
                  <a:srgbClr val="2A1B54"/>
                </a:solidFill>
                <a:latin typeface="Arial"/>
              </a:rPr>
              <a:t>SECURITY RESEARCHERS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Persona evolution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Behavioural analysis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Dark-web ecosystem research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57200" y="45262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1B54"/>
                </a:solidFill>
                <a:latin typeface="Arial"/>
              </a:rPr>
              <a:t>Key Outcomes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57200" y="4855464"/>
            <a:ext cx="2723083" cy="777240"/>
          </a:xfrm>
          <a:prstGeom prst="roundRect">
            <a:avLst/>
          </a:prstGeom>
          <a:solidFill>
            <a:srgbClr val="F1E8FE"/>
          </a:solidFill>
          <a:ln w="12700">
            <a:solidFill>
              <a:srgbClr val="B9A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400" b="1">
                <a:solidFill>
                  <a:srgbClr val="5B3A9E"/>
                </a:solidFill>
                <a:latin typeface="Arial"/>
              </a:rPr>
              <a:t>4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Real-world OSINT
sources integrated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3308299" y="4855464"/>
            <a:ext cx="2723083" cy="777240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400" b="1">
                <a:solidFill>
                  <a:srgbClr val="1F5C9E"/>
                </a:solidFill>
                <a:latin typeface="Arial"/>
              </a:rPr>
              <a:t>6 HRS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Autonomous
re-collection cycle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6159398" y="4855464"/>
            <a:ext cx="2723083" cy="777240"/>
          </a:xfrm>
          <a:prstGeom prst="roundRect">
            <a:avLst/>
          </a:prstGeom>
          <a:solidFill>
            <a:srgbClr val="DEFAE9"/>
          </a:solidFill>
          <a:ln w="12700">
            <a:solidFill>
              <a:srgbClr val="7CC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400" b="1">
                <a:solidFill>
                  <a:srgbClr val="1E8A4A"/>
                </a:solidFill>
                <a:latin typeface="Arial"/>
              </a:rPr>
              <a:t>3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Attribution signals
fused per actor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9010497" y="4855464"/>
            <a:ext cx="2723083" cy="777240"/>
          </a:xfrm>
          <a:prstGeom prst="roundRect">
            <a:avLst/>
          </a:prstGeom>
          <a:solidFill>
            <a:srgbClr val="FDEED5"/>
          </a:solidFill>
          <a:ln w="12700">
            <a:solidFill>
              <a:srgbClr val="E4B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400" b="1">
                <a:solidFill>
                  <a:srgbClr val="C26A14"/>
                </a:solidFill>
                <a:latin typeface="Arial"/>
              </a:rPr>
              <a:t>100%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Evidence traced
to source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Oval 17410"/>
          <p:cNvSpPr/>
          <p:nvPr/>
        </p:nvSpPr>
        <p:spPr>
          <a:xfrm>
            <a:off x="-1188720" y="-1188720"/>
            <a:ext cx="2377440" cy="237744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1417320" y="201168"/>
            <a:ext cx="5120640" cy="457200"/>
          </a:xfrm>
          <a:prstGeom prst="rect">
            <a:avLst/>
          </a:prstGeom>
          <a:solidFill>
            <a:srgbClr val="6E5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SMART INDIA HACKATHON 2026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777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A1B54"/>
                </a:solidFill>
                <a:latin typeface="Georgia"/>
              </a:rPr>
              <a:t>Research and References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5467E"/>
                </a:solidFill>
                <a:latin typeface="Arial"/>
              </a:rPr>
              <a:t>Built on established research, proven methods and real intelligence sources.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11368735" y="6035040"/>
            <a:ext cx="1645920" cy="164592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457200" y="1691640"/>
            <a:ext cx="2736799" cy="384048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>
                <a:solidFill>
                  <a:srgbClr val="2A1B54"/>
                </a:solidFill>
                <a:latin typeface="Segoe UI Emoji"/>
              </a:rPr>
              <a:t>📡  </a:t>
            </a:r>
            <a:r>
              <a:rPr sz="1100" b="1">
                <a:solidFill>
                  <a:srgbClr val="2A1B54"/>
                </a:solidFill>
                <a:latin typeface="Arial"/>
              </a:rPr>
              <a:t>TOR / DARK-WEB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2075688"/>
            <a:ext cx="2736799" cy="6675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950">
                <a:solidFill>
                  <a:srgbClr val="222833"/>
                </a:solidFill>
                <a:latin typeface="Arial"/>
              </a:rPr>
              <a:t>✓ Tor hidden services</a:t>
            </a:r>
          </a:p>
          <a:p>
            <a:r>
              <a:rPr sz="950">
                <a:solidFill>
                  <a:srgbClr val="222833"/>
                </a:solidFill>
                <a:latin typeface="Arial"/>
              </a:rPr>
              <a:t>✓ Onion infrastructure research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303727" y="1691640"/>
            <a:ext cx="2736799" cy="384048"/>
          </a:xfrm>
          <a:prstGeom prst="roundRect">
            <a:avLst/>
          </a:prstGeom>
          <a:solidFill>
            <a:srgbClr val="DEFAE9"/>
          </a:solidFill>
          <a:ln w="12700">
            <a:solidFill>
              <a:srgbClr val="7CC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>
                <a:solidFill>
                  <a:srgbClr val="2A1B54"/>
                </a:solidFill>
                <a:latin typeface="Segoe UI Emoji"/>
              </a:rPr>
              <a:t>✍  </a:t>
            </a:r>
            <a:r>
              <a:rPr sz="1100" b="1">
                <a:solidFill>
                  <a:srgbClr val="2A1B54"/>
                </a:solidFill>
                <a:latin typeface="Arial"/>
              </a:rPr>
              <a:t>STYLOMETRY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303727" y="2075688"/>
            <a:ext cx="2736799" cy="6675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950">
                <a:solidFill>
                  <a:srgbClr val="222833"/>
                </a:solidFill>
                <a:latin typeface="Arial"/>
              </a:rPr>
              <a:t>✓ Authorship attribution</a:t>
            </a:r>
          </a:p>
          <a:p>
            <a:r>
              <a:rPr sz="950">
                <a:solidFill>
                  <a:srgbClr val="222833"/>
                </a:solidFill>
                <a:latin typeface="Arial"/>
              </a:rPr>
              <a:t>✓ Burrows’ Delta method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150254" y="1691640"/>
            <a:ext cx="2736799" cy="384048"/>
          </a:xfrm>
          <a:prstGeom prst="roundRect">
            <a:avLst/>
          </a:prstGeom>
          <a:solidFill>
            <a:srgbClr val="F1E8FE"/>
          </a:solidFill>
          <a:ln w="12700">
            <a:solidFill>
              <a:srgbClr val="B9A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>
                <a:solidFill>
                  <a:srgbClr val="2A1B54"/>
                </a:solidFill>
                <a:latin typeface="Segoe UI Emoji"/>
              </a:rPr>
              <a:t>🛡  </a:t>
            </a:r>
            <a:r>
              <a:rPr sz="1100" b="1">
                <a:solidFill>
                  <a:srgbClr val="2A1B54"/>
                </a:solidFill>
                <a:latin typeface="Arial"/>
              </a:rPr>
              <a:t>THREAT INTELLIGENCE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150254" y="2075688"/>
            <a:ext cx="2736799" cy="6675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950">
                <a:solidFill>
                  <a:srgbClr val="222833"/>
                </a:solidFill>
                <a:latin typeface="Arial"/>
              </a:rPr>
              <a:t>✓ MISP (CIRCL, botvrij.eu)</a:t>
            </a:r>
          </a:p>
          <a:p>
            <a:r>
              <a:rPr sz="950">
                <a:solidFill>
                  <a:srgbClr val="222833"/>
                </a:solidFill>
                <a:latin typeface="Arial"/>
              </a:rPr>
              <a:t>✓ IOC correlation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996781" y="1691640"/>
            <a:ext cx="2736799" cy="384048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>
                <a:solidFill>
                  <a:srgbClr val="2A1B54"/>
                </a:solidFill>
                <a:latin typeface="Segoe UI Emoji"/>
              </a:rPr>
              <a:t>🔗  </a:t>
            </a:r>
            <a:r>
              <a:rPr sz="1100" b="1">
                <a:solidFill>
                  <a:srgbClr val="2A1B54"/>
                </a:solidFill>
                <a:latin typeface="Arial"/>
              </a:rPr>
              <a:t>GRAPH / AI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8996781" y="2075688"/>
            <a:ext cx="2736799" cy="6675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950">
                <a:solidFill>
                  <a:srgbClr val="222833"/>
                </a:solidFill>
                <a:latin typeface="Arial"/>
              </a:rPr>
              <a:t>✓ Entity resolution</a:t>
            </a:r>
          </a:p>
          <a:p>
            <a:r>
              <a:rPr sz="950">
                <a:solidFill>
                  <a:srgbClr val="222833"/>
                </a:solidFill>
                <a:latin typeface="Arial"/>
              </a:rPr>
              <a:t>✓ Knowledge graphs (Neo4j)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57200" y="3017520"/>
            <a:ext cx="1920240" cy="777240"/>
          </a:xfrm>
          <a:prstGeom prst="roundRect">
            <a:avLst/>
          </a:prstGeom>
          <a:solidFill>
            <a:srgbClr val="F1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50" b="1">
                <a:solidFill>
                  <a:srgbClr val="2A1B54"/>
                </a:solidFill>
                <a:latin typeface="Arial"/>
              </a:rPr>
              <a:t>Research</a:t>
            </a:r>
          </a:p>
          <a:p>
            <a:pPr algn="ctr"/>
            <a:r>
              <a:rPr sz="1150" b="1">
                <a:solidFill>
                  <a:srgbClr val="2A1B54"/>
                </a:solidFill>
                <a:latin typeface="Arial"/>
              </a:rPr>
              <a:t>Foundations</a:t>
            </a:r>
          </a:p>
        </p:txBody>
      </p:sp>
      <p:sp>
        <p:nvSpPr>
          <p:cNvPr id="17425" name="Down Arrow 17424"/>
          <p:cNvSpPr/>
          <p:nvPr/>
        </p:nvSpPr>
        <p:spPr>
          <a:xfrm>
            <a:off x="1335024" y="3813048"/>
            <a:ext cx="164592" cy="146304"/>
          </a:xfrm>
          <a:prstGeom prst="downArrow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457200" y="4050792"/>
            <a:ext cx="1920240" cy="777240"/>
          </a:xfrm>
          <a:prstGeom prst="roundRect">
            <a:avLst/>
          </a:prstGeom>
          <a:solidFill>
            <a:srgbClr val="F1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50" b="1">
                <a:solidFill>
                  <a:srgbClr val="2A1B54"/>
                </a:solidFill>
                <a:latin typeface="Arial"/>
              </a:rPr>
              <a:t>ARGUS</a:t>
            </a:r>
          </a:p>
          <a:p>
            <a:pPr algn="ctr"/>
            <a:r>
              <a:rPr sz="1150" b="1">
                <a:solidFill>
                  <a:srgbClr val="2A1B54"/>
                </a:solidFill>
                <a:latin typeface="Arial"/>
              </a:rPr>
              <a:t>Capabilities</a:t>
            </a:r>
          </a:p>
        </p:txBody>
      </p:sp>
      <p:sp>
        <p:nvSpPr>
          <p:cNvPr id="17427" name="Down Arrow 17426"/>
          <p:cNvSpPr/>
          <p:nvPr/>
        </p:nvSpPr>
        <p:spPr>
          <a:xfrm>
            <a:off x="1335024" y="4846320"/>
            <a:ext cx="164592" cy="146304"/>
          </a:xfrm>
          <a:prstGeom prst="downArrow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457200" y="5084064"/>
            <a:ext cx="1920240" cy="777240"/>
          </a:xfrm>
          <a:prstGeom prst="roundRect">
            <a:avLst/>
          </a:prstGeom>
          <a:solidFill>
            <a:srgbClr val="DEF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50" b="1">
                <a:solidFill>
                  <a:srgbClr val="2A1B54"/>
                </a:solidFill>
                <a:latin typeface="Arial"/>
              </a:rPr>
              <a:t>Explainable</a:t>
            </a:r>
          </a:p>
          <a:p>
            <a:pPr algn="ctr"/>
            <a:r>
              <a:rPr sz="1150" b="1">
                <a:solidFill>
                  <a:srgbClr val="2A1B54"/>
                </a:solidFill>
                <a:latin typeface="Arial"/>
              </a:rPr>
              <a:t>Outputs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2697480" y="3017520"/>
            <a:ext cx="9037015" cy="365760"/>
          </a:xfrm>
          <a:prstGeom prst="roundRect">
            <a:avLst/>
          </a:prstGeom>
          <a:solidFill>
            <a:srgbClr val="F1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2A1B54"/>
                </a:solidFill>
                <a:latin typeface="Arial"/>
              </a:rPr>
              <a:t>ARGUS Investigator Dashboard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2697480" y="3383280"/>
            <a:ext cx="9037015" cy="2651760"/>
          </a:xfrm>
          <a:prstGeom prst="roundRect">
            <a:avLst/>
          </a:prstGeom>
          <a:solidFill>
            <a:srgbClr val="1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pic>
        <p:nvPicPr>
          <p:cNvPr id="17431" name="Picture 17430" descr="dashboard_crop_ne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3901044"/>
            <a:ext cx="8854135" cy="161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